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8"/>
  </p:notesMasterIdLst>
  <p:sldIdLst>
    <p:sldId id="256" r:id="rId2"/>
    <p:sldId id="257" r:id="rId3"/>
    <p:sldId id="258" r:id="rId4"/>
    <p:sldId id="274" r:id="rId5"/>
    <p:sldId id="259" r:id="rId6"/>
    <p:sldId id="261" r:id="rId7"/>
    <p:sldId id="263" r:id="rId8"/>
    <p:sldId id="264" r:id="rId9"/>
    <p:sldId id="265" r:id="rId10"/>
    <p:sldId id="266" r:id="rId11"/>
    <p:sldId id="267" r:id="rId12"/>
    <p:sldId id="273" r:id="rId13"/>
    <p:sldId id="270" r:id="rId14"/>
    <p:sldId id="271" r:id="rId15"/>
    <p:sldId id="269" r:id="rId16"/>
    <p:sldId id="272" r:id="rId17"/>
  </p:sldIdLst>
  <p:sldSz cx="12192000" cy="6858000"/>
  <p:notesSz cx="12192000" cy="68580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FC04459-D97D-4745-BEC1-0B086D4C4D39}" v="48" dt="2025-11-12T06:10:20.314"/>
  </p1510:revLst>
</p1510:revInfo>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20"/>
    <p:restoredTop sz="69721" autoAdjust="0"/>
  </p:normalViewPr>
  <p:slideViewPr>
    <p:cSldViewPr>
      <p:cViewPr varScale="1">
        <p:scale>
          <a:sx n="72" d="100"/>
          <a:sy n="72" d="100"/>
        </p:scale>
        <p:origin x="432" y="56"/>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5283200" cy="3444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6905625" y="0"/>
            <a:ext cx="5283200" cy="344488"/>
          </a:xfrm>
          <a:prstGeom prst="rect">
            <a:avLst/>
          </a:prstGeom>
        </p:spPr>
        <p:txBody>
          <a:bodyPr vert="horz" lIns="91440" tIns="45720" rIns="91440" bIns="45720" rtlCol="0"/>
          <a:lstStyle>
            <a:lvl1pPr algn="r">
              <a:defRPr sz="1200"/>
            </a:lvl1pPr>
          </a:lstStyle>
          <a:p>
            <a:fld id="{4170C91B-AE6F-4D0D-B60B-E235EF6C04B7}" type="datetimeFigureOut">
              <a:rPr lang="en-IN" smtClean="0"/>
              <a:t>14-11-2025</a:t>
            </a:fld>
            <a:endParaRPr lang="en-IN"/>
          </a:p>
        </p:txBody>
      </p:sp>
      <p:sp>
        <p:nvSpPr>
          <p:cNvPr id="4" name="Slide Image Placeholder 3"/>
          <p:cNvSpPr>
            <a:spLocks noGrp="1" noRot="1" noChangeAspect="1"/>
          </p:cNvSpPr>
          <p:nvPr>
            <p:ph type="sldImg" idx="2"/>
          </p:nvPr>
        </p:nvSpPr>
        <p:spPr>
          <a:xfrm>
            <a:off x="4038600" y="857250"/>
            <a:ext cx="4114800" cy="2314575"/>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1219200" y="3300413"/>
            <a:ext cx="9753600" cy="2700337"/>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N"/>
          </a:p>
        </p:txBody>
      </p:sp>
      <p:sp>
        <p:nvSpPr>
          <p:cNvPr id="6" name="Footer Placeholder 5"/>
          <p:cNvSpPr>
            <a:spLocks noGrp="1"/>
          </p:cNvSpPr>
          <p:nvPr>
            <p:ph type="ftr" sz="quarter" idx="4"/>
          </p:nvPr>
        </p:nvSpPr>
        <p:spPr>
          <a:xfrm>
            <a:off x="0" y="6513513"/>
            <a:ext cx="5283200" cy="3444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6905625" y="6513513"/>
            <a:ext cx="5283200" cy="344487"/>
          </a:xfrm>
          <a:prstGeom prst="rect">
            <a:avLst/>
          </a:prstGeom>
        </p:spPr>
        <p:txBody>
          <a:bodyPr vert="horz" lIns="91440" tIns="45720" rIns="91440" bIns="45720" rtlCol="0" anchor="b"/>
          <a:lstStyle>
            <a:lvl1pPr algn="r">
              <a:defRPr sz="1200"/>
            </a:lvl1pPr>
          </a:lstStyle>
          <a:p>
            <a:fld id="{B5FBD498-BE20-4799-8F85-8F6254A97B3D}" type="slidenum">
              <a:rPr lang="en-IN" smtClean="0"/>
              <a:t>‹#›</a:t>
            </a:fld>
            <a:endParaRPr lang="en-IN"/>
          </a:p>
        </p:txBody>
      </p:sp>
    </p:spTree>
    <p:extLst>
      <p:ext uri="{BB962C8B-B14F-4D97-AF65-F5344CB8AC3E}">
        <p14:creationId xmlns:p14="http://schemas.microsoft.com/office/powerpoint/2010/main" val="52267192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B5FBD498-BE20-4799-8F85-8F6254A97B3D}" type="slidenum">
              <a:rPr lang="en-IN" smtClean="0"/>
              <a:t>1</a:t>
            </a:fld>
            <a:endParaRPr lang="en-IN"/>
          </a:p>
        </p:txBody>
      </p:sp>
    </p:spTree>
    <p:extLst>
      <p:ext uri="{BB962C8B-B14F-4D97-AF65-F5344CB8AC3E}">
        <p14:creationId xmlns:p14="http://schemas.microsoft.com/office/powerpoint/2010/main" val="222300632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B5FBD498-BE20-4799-8F85-8F6254A97B3D}" type="slidenum">
              <a:rPr lang="en-IN" smtClean="0"/>
              <a:t>3</a:t>
            </a:fld>
            <a:endParaRPr lang="en-IN"/>
          </a:p>
        </p:txBody>
      </p:sp>
    </p:spTree>
    <p:extLst>
      <p:ext uri="{BB962C8B-B14F-4D97-AF65-F5344CB8AC3E}">
        <p14:creationId xmlns:p14="http://schemas.microsoft.com/office/powerpoint/2010/main" val="133647652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B5FBD498-BE20-4799-8F85-8F6254A97B3D}" type="slidenum">
              <a:rPr lang="en-IN" smtClean="0"/>
              <a:t>7</a:t>
            </a:fld>
            <a:endParaRPr lang="en-IN"/>
          </a:p>
        </p:txBody>
      </p:sp>
    </p:spTree>
    <p:extLst>
      <p:ext uri="{BB962C8B-B14F-4D97-AF65-F5344CB8AC3E}">
        <p14:creationId xmlns:p14="http://schemas.microsoft.com/office/powerpoint/2010/main" val="398726744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B5FBD498-BE20-4799-8F85-8F6254A97B3D}" type="slidenum">
              <a:rPr lang="en-IN" smtClean="0"/>
              <a:t>8</a:t>
            </a:fld>
            <a:endParaRPr lang="en-IN"/>
          </a:p>
        </p:txBody>
      </p:sp>
    </p:spTree>
    <p:extLst>
      <p:ext uri="{BB962C8B-B14F-4D97-AF65-F5344CB8AC3E}">
        <p14:creationId xmlns:p14="http://schemas.microsoft.com/office/powerpoint/2010/main" val="145465779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B5FBD498-BE20-4799-8F85-8F6254A97B3D}" type="slidenum">
              <a:rPr lang="en-IN" smtClean="0"/>
              <a:t>12</a:t>
            </a:fld>
            <a:endParaRPr lang="en-IN"/>
          </a:p>
        </p:txBody>
      </p:sp>
    </p:spTree>
    <p:extLst>
      <p:ext uri="{BB962C8B-B14F-4D97-AF65-F5344CB8AC3E}">
        <p14:creationId xmlns:p14="http://schemas.microsoft.com/office/powerpoint/2010/main" val="201288246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B5FBD498-BE20-4799-8F85-8F6254A97B3D}" type="slidenum">
              <a:rPr lang="en-IN" smtClean="0"/>
              <a:t>13</a:t>
            </a:fld>
            <a:endParaRPr lang="en-IN"/>
          </a:p>
        </p:txBody>
      </p:sp>
    </p:spTree>
    <p:extLst>
      <p:ext uri="{BB962C8B-B14F-4D97-AF65-F5344CB8AC3E}">
        <p14:creationId xmlns:p14="http://schemas.microsoft.com/office/powerpoint/2010/main" val="406072455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B5FBD498-BE20-4799-8F85-8F6254A97B3D}" type="slidenum">
              <a:rPr lang="en-IN" smtClean="0"/>
              <a:t>14</a:t>
            </a:fld>
            <a:endParaRPr lang="en-IN"/>
          </a:p>
        </p:txBody>
      </p:sp>
    </p:spTree>
    <p:extLst>
      <p:ext uri="{BB962C8B-B14F-4D97-AF65-F5344CB8AC3E}">
        <p14:creationId xmlns:p14="http://schemas.microsoft.com/office/powerpoint/2010/main" val="152475590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1217777" y="1284858"/>
            <a:ext cx="1821814" cy="467994"/>
          </a:xfrm>
          <a:prstGeom prst="rect">
            <a:avLst/>
          </a:prstGeom>
        </p:spPr>
        <p:txBody>
          <a:bodyPr wrap="square" lIns="0" tIns="0" rIns="0" bIns="0">
            <a:spAutoFit/>
          </a:bodyPr>
          <a:lstStyle>
            <a:lvl1pPr>
              <a:defRPr sz="4000" b="0" i="0">
                <a:solidFill>
                  <a:srgbClr val="252525"/>
                </a:solidFill>
                <a:latin typeface="Times New Roman"/>
                <a:cs typeface="Times New Roman"/>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sz="2400" b="0" i="0">
                <a:solidFill>
                  <a:srgbClr val="404040"/>
                </a:solidFill>
                <a:latin typeface="Times New Roman"/>
                <a:cs typeface="Times New Roman"/>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11/14/2025</a:t>
            </a:fld>
            <a:endParaRPr lang="en-US"/>
          </a:p>
        </p:txBody>
      </p:sp>
      <p:sp>
        <p:nvSpPr>
          <p:cNvPr id="6" name="Holder 6"/>
          <p:cNvSpPr>
            <a:spLocks noGrp="1"/>
          </p:cNvSpPr>
          <p:nvPr>
            <p:ph type="sldNum" sz="quarter" idx="7"/>
          </p:nvPr>
        </p:nvSpPr>
        <p:spPr/>
        <p:txBody>
          <a:bodyPr lIns="0" tIns="0" rIns="0" bIns="0"/>
          <a:lstStyle>
            <a:lvl1pPr>
              <a:defRPr sz="2000" b="0" i="0">
                <a:solidFill>
                  <a:schemeClr val="bg1"/>
                </a:solidFill>
                <a:latin typeface="Verdana"/>
                <a:cs typeface="Verdana"/>
              </a:defRPr>
            </a:lvl1pPr>
          </a:lstStyle>
          <a:p>
            <a:pPr marL="179705">
              <a:lnSpc>
                <a:spcPct val="100000"/>
              </a:lnSpc>
              <a:spcBef>
                <a:spcPts val="114"/>
              </a:spcBef>
            </a:pPr>
            <a:fld id="{81D60167-4931-47E6-BA6A-407CBD079E47}" type="slidenum">
              <a:rPr spc="-50" dirty="0"/>
              <a:t>‹#›</a:t>
            </a:fld>
            <a:endParaRPr spc="-50"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000" b="0" i="0">
                <a:solidFill>
                  <a:srgbClr val="252525"/>
                </a:solidFill>
                <a:latin typeface="Times New Roman"/>
                <a:cs typeface="Times New Roman"/>
              </a:defRPr>
            </a:lvl1pPr>
          </a:lstStyle>
          <a:p>
            <a:endParaRPr/>
          </a:p>
        </p:txBody>
      </p:sp>
      <p:sp>
        <p:nvSpPr>
          <p:cNvPr id="3" name="Holder 3"/>
          <p:cNvSpPr>
            <a:spLocks noGrp="1"/>
          </p:cNvSpPr>
          <p:nvPr>
            <p:ph type="body" idx="1"/>
          </p:nvPr>
        </p:nvSpPr>
        <p:spPr/>
        <p:txBody>
          <a:bodyPr lIns="0" tIns="0" rIns="0" bIns="0"/>
          <a:lstStyle>
            <a:lvl1pPr>
              <a:defRPr sz="2400" b="0" i="0">
                <a:solidFill>
                  <a:srgbClr val="404040"/>
                </a:solidFill>
                <a:latin typeface="Times New Roman"/>
                <a:cs typeface="Times New Roman"/>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11/14/2025</a:t>
            </a:fld>
            <a:endParaRPr lang="en-US"/>
          </a:p>
        </p:txBody>
      </p:sp>
      <p:sp>
        <p:nvSpPr>
          <p:cNvPr id="6" name="Holder 6"/>
          <p:cNvSpPr>
            <a:spLocks noGrp="1"/>
          </p:cNvSpPr>
          <p:nvPr>
            <p:ph type="sldNum" sz="quarter" idx="7"/>
          </p:nvPr>
        </p:nvSpPr>
        <p:spPr/>
        <p:txBody>
          <a:bodyPr lIns="0" tIns="0" rIns="0" bIns="0"/>
          <a:lstStyle>
            <a:lvl1pPr>
              <a:defRPr sz="2000" b="0" i="0">
                <a:solidFill>
                  <a:schemeClr val="bg1"/>
                </a:solidFill>
                <a:latin typeface="Verdana"/>
                <a:cs typeface="Verdana"/>
              </a:defRPr>
            </a:lvl1pPr>
          </a:lstStyle>
          <a:p>
            <a:pPr marL="179705">
              <a:lnSpc>
                <a:spcPct val="100000"/>
              </a:lnSpc>
              <a:spcBef>
                <a:spcPts val="114"/>
              </a:spcBef>
            </a:pPr>
            <a:fld id="{81D60167-4931-47E6-BA6A-407CBD079E47}" type="slidenum">
              <a:rPr spc="-50" dirty="0"/>
              <a:t>‹#›</a:t>
            </a:fld>
            <a:endParaRPr spc="-5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000" b="0" i="0">
                <a:solidFill>
                  <a:srgbClr val="252525"/>
                </a:solidFill>
                <a:latin typeface="Times New Roman"/>
                <a:cs typeface="Times New Roman"/>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11/14/2025</a:t>
            </a:fld>
            <a:endParaRPr lang="en-US"/>
          </a:p>
        </p:txBody>
      </p:sp>
      <p:sp>
        <p:nvSpPr>
          <p:cNvPr id="7" name="Holder 7"/>
          <p:cNvSpPr>
            <a:spLocks noGrp="1"/>
          </p:cNvSpPr>
          <p:nvPr>
            <p:ph type="sldNum" sz="quarter" idx="7"/>
          </p:nvPr>
        </p:nvSpPr>
        <p:spPr/>
        <p:txBody>
          <a:bodyPr lIns="0" tIns="0" rIns="0" bIns="0"/>
          <a:lstStyle>
            <a:lvl1pPr>
              <a:defRPr sz="2000" b="0" i="0">
                <a:solidFill>
                  <a:schemeClr val="bg1"/>
                </a:solidFill>
                <a:latin typeface="Verdana"/>
                <a:cs typeface="Verdana"/>
              </a:defRPr>
            </a:lvl1pPr>
          </a:lstStyle>
          <a:p>
            <a:pPr marL="179705">
              <a:lnSpc>
                <a:spcPct val="100000"/>
              </a:lnSpc>
              <a:spcBef>
                <a:spcPts val="114"/>
              </a:spcBef>
            </a:pPr>
            <a:fld id="{81D60167-4931-47E6-BA6A-407CBD079E47}" type="slidenum">
              <a:rPr spc="-50" dirty="0"/>
              <a:t>‹#›</a:t>
            </a:fld>
            <a:endParaRPr spc="-5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000" b="0" i="0">
                <a:solidFill>
                  <a:srgbClr val="252525"/>
                </a:solidFill>
                <a:latin typeface="Times New Roman"/>
                <a:cs typeface="Times New Roman"/>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11/14/2025</a:t>
            </a:fld>
            <a:endParaRPr lang="en-US"/>
          </a:p>
        </p:txBody>
      </p:sp>
      <p:sp>
        <p:nvSpPr>
          <p:cNvPr id="5" name="Holder 5"/>
          <p:cNvSpPr>
            <a:spLocks noGrp="1"/>
          </p:cNvSpPr>
          <p:nvPr>
            <p:ph type="sldNum" sz="quarter" idx="7"/>
          </p:nvPr>
        </p:nvSpPr>
        <p:spPr/>
        <p:txBody>
          <a:bodyPr lIns="0" tIns="0" rIns="0" bIns="0"/>
          <a:lstStyle>
            <a:lvl1pPr>
              <a:defRPr sz="2000" b="0" i="0">
                <a:solidFill>
                  <a:schemeClr val="bg1"/>
                </a:solidFill>
                <a:latin typeface="Verdana"/>
                <a:cs typeface="Verdana"/>
              </a:defRPr>
            </a:lvl1pPr>
          </a:lstStyle>
          <a:p>
            <a:pPr marL="179705">
              <a:lnSpc>
                <a:spcPct val="100000"/>
              </a:lnSpc>
              <a:spcBef>
                <a:spcPts val="114"/>
              </a:spcBef>
            </a:pPr>
            <a:fld id="{81D60167-4931-47E6-BA6A-407CBD079E47}" type="slidenum">
              <a:rPr spc="-50" dirty="0"/>
              <a:t>‹#›</a:t>
            </a:fld>
            <a:endParaRPr spc="-50"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11/14/2025</a:t>
            </a:fld>
            <a:endParaRPr lang="en-US"/>
          </a:p>
        </p:txBody>
      </p:sp>
      <p:sp>
        <p:nvSpPr>
          <p:cNvPr id="4" name="Holder 4"/>
          <p:cNvSpPr>
            <a:spLocks noGrp="1"/>
          </p:cNvSpPr>
          <p:nvPr>
            <p:ph type="sldNum" sz="quarter" idx="7"/>
          </p:nvPr>
        </p:nvSpPr>
        <p:spPr/>
        <p:txBody>
          <a:bodyPr lIns="0" tIns="0" rIns="0" bIns="0"/>
          <a:lstStyle>
            <a:lvl1pPr>
              <a:defRPr sz="2000" b="0" i="0">
                <a:solidFill>
                  <a:schemeClr val="bg1"/>
                </a:solidFill>
                <a:latin typeface="Verdana"/>
                <a:cs typeface="Verdana"/>
              </a:defRPr>
            </a:lvl1pPr>
          </a:lstStyle>
          <a:p>
            <a:pPr marL="179705">
              <a:lnSpc>
                <a:spcPct val="100000"/>
              </a:lnSpc>
              <a:spcBef>
                <a:spcPts val="114"/>
              </a:spcBef>
            </a:pPr>
            <a:fld id="{81D60167-4931-47E6-BA6A-407CBD079E47}" type="slidenum">
              <a:rPr spc="-50" dirty="0"/>
              <a:t>‹#›</a:t>
            </a:fld>
            <a:endParaRPr spc="-50"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image" Target="../media/image4.png"/><Relationship Id="rId4" Type="http://schemas.openxmlformats.org/officeDocument/2006/relationships/slideLayout" Target="../slideLayouts/slideLayout4.xml"/><Relationship Id="rId9" Type="http://schemas.openxmlformats.org/officeDocument/2006/relationships/image" Target="../media/image3.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7" cstate="print"/>
          <a:stretch>
            <a:fillRect/>
          </a:stretch>
        </p:blipFill>
        <p:spPr>
          <a:xfrm>
            <a:off x="0" y="0"/>
            <a:ext cx="12192000" cy="6858000"/>
          </a:xfrm>
          <a:prstGeom prst="rect">
            <a:avLst/>
          </a:prstGeom>
        </p:spPr>
      </p:pic>
      <p:pic>
        <p:nvPicPr>
          <p:cNvPr id="17" name="bg object 17"/>
          <p:cNvPicPr/>
          <p:nvPr/>
        </p:nvPicPr>
        <p:blipFill>
          <a:blip r:embed="rId8" cstate="print"/>
          <a:stretch>
            <a:fillRect/>
          </a:stretch>
        </p:blipFill>
        <p:spPr>
          <a:xfrm>
            <a:off x="0" y="-761"/>
            <a:ext cx="2851530" cy="6858761"/>
          </a:xfrm>
          <a:prstGeom prst="rect">
            <a:avLst/>
          </a:prstGeom>
        </p:spPr>
      </p:pic>
      <p:sp>
        <p:nvSpPr>
          <p:cNvPr id="18" name="bg object 18"/>
          <p:cNvSpPr/>
          <p:nvPr/>
        </p:nvSpPr>
        <p:spPr>
          <a:xfrm>
            <a:off x="0" y="0"/>
            <a:ext cx="182880" cy="6858000"/>
          </a:xfrm>
          <a:custGeom>
            <a:avLst/>
            <a:gdLst/>
            <a:ahLst/>
            <a:cxnLst/>
            <a:rect l="l" t="t" r="r" b="b"/>
            <a:pathLst>
              <a:path w="182880" h="6858000">
                <a:moveTo>
                  <a:pt x="182880" y="0"/>
                </a:moveTo>
                <a:lnTo>
                  <a:pt x="0" y="0"/>
                </a:lnTo>
                <a:lnTo>
                  <a:pt x="0" y="6858000"/>
                </a:lnTo>
                <a:lnTo>
                  <a:pt x="182880" y="6858000"/>
                </a:lnTo>
                <a:lnTo>
                  <a:pt x="182880" y="0"/>
                </a:lnTo>
                <a:close/>
              </a:path>
            </a:pathLst>
          </a:custGeom>
          <a:solidFill>
            <a:srgbClr val="766E53"/>
          </a:solidFill>
        </p:spPr>
        <p:txBody>
          <a:bodyPr wrap="square" lIns="0" tIns="0" rIns="0" bIns="0" rtlCol="0"/>
          <a:lstStyle/>
          <a:p>
            <a:endParaRPr/>
          </a:p>
        </p:txBody>
      </p:sp>
      <p:sp>
        <p:nvSpPr>
          <p:cNvPr id="19" name="bg object 19"/>
          <p:cNvSpPr/>
          <p:nvPr/>
        </p:nvSpPr>
        <p:spPr>
          <a:xfrm>
            <a:off x="10580814" y="6247180"/>
            <a:ext cx="1595755" cy="507365"/>
          </a:xfrm>
          <a:custGeom>
            <a:avLst/>
            <a:gdLst/>
            <a:ahLst/>
            <a:cxnLst/>
            <a:rect l="l" t="t" r="r" b="b"/>
            <a:pathLst>
              <a:path w="1595754" h="507365">
                <a:moveTo>
                  <a:pt x="345884" y="0"/>
                </a:moveTo>
                <a:lnTo>
                  <a:pt x="245681" y="0"/>
                </a:lnTo>
                <a:lnTo>
                  <a:pt x="240982" y="4775"/>
                </a:lnTo>
                <a:lnTo>
                  <a:pt x="239458" y="6400"/>
                </a:lnTo>
                <a:lnTo>
                  <a:pt x="237553" y="7912"/>
                </a:lnTo>
                <a:lnTo>
                  <a:pt x="236029" y="9537"/>
                </a:lnTo>
                <a:lnTo>
                  <a:pt x="7048" y="238480"/>
                </a:lnTo>
                <a:lnTo>
                  <a:pt x="1762" y="245633"/>
                </a:lnTo>
                <a:lnTo>
                  <a:pt x="0" y="252787"/>
                </a:lnTo>
                <a:lnTo>
                  <a:pt x="1762" y="259940"/>
                </a:lnTo>
                <a:lnTo>
                  <a:pt x="7048" y="267093"/>
                </a:lnTo>
                <a:lnTo>
                  <a:pt x="236029" y="496037"/>
                </a:lnTo>
                <a:lnTo>
                  <a:pt x="240982" y="496037"/>
                </a:lnTo>
                <a:lnTo>
                  <a:pt x="240982" y="500806"/>
                </a:lnTo>
                <a:lnTo>
                  <a:pt x="245681" y="500806"/>
                </a:lnTo>
                <a:lnTo>
                  <a:pt x="250380" y="505575"/>
                </a:lnTo>
                <a:lnTo>
                  <a:pt x="1591246" y="507300"/>
                </a:lnTo>
                <a:lnTo>
                  <a:pt x="1595513" y="9537"/>
                </a:lnTo>
                <a:lnTo>
                  <a:pt x="1595564" y="3556"/>
                </a:lnTo>
                <a:lnTo>
                  <a:pt x="345884" y="0"/>
                </a:lnTo>
                <a:close/>
              </a:path>
            </a:pathLst>
          </a:custGeom>
          <a:solidFill>
            <a:srgbClr val="A42F0F"/>
          </a:solidFill>
        </p:spPr>
        <p:txBody>
          <a:bodyPr wrap="square" lIns="0" tIns="0" rIns="0" bIns="0" rtlCol="0"/>
          <a:lstStyle/>
          <a:p>
            <a:endParaRPr/>
          </a:p>
        </p:txBody>
      </p:sp>
      <p:pic>
        <p:nvPicPr>
          <p:cNvPr id="20" name="bg object 20"/>
          <p:cNvPicPr/>
          <p:nvPr/>
        </p:nvPicPr>
        <p:blipFill>
          <a:blip r:embed="rId9" cstate="print"/>
          <a:stretch>
            <a:fillRect/>
          </a:stretch>
        </p:blipFill>
        <p:spPr>
          <a:xfrm>
            <a:off x="155714" y="63"/>
            <a:ext cx="1457325" cy="1242885"/>
          </a:xfrm>
          <a:prstGeom prst="rect">
            <a:avLst/>
          </a:prstGeom>
        </p:spPr>
      </p:pic>
      <p:pic>
        <p:nvPicPr>
          <p:cNvPr id="21" name="bg object 21"/>
          <p:cNvPicPr/>
          <p:nvPr/>
        </p:nvPicPr>
        <p:blipFill>
          <a:blip r:embed="rId10" cstate="print"/>
          <a:stretch>
            <a:fillRect/>
          </a:stretch>
        </p:blipFill>
        <p:spPr>
          <a:xfrm>
            <a:off x="11103356" y="0"/>
            <a:ext cx="1017041" cy="1413890"/>
          </a:xfrm>
          <a:prstGeom prst="rect">
            <a:avLst/>
          </a:prstGeom>
        </p:spPr>
      </p:pic>
      <p:sp>
        <p:nvSpPr>
          <p:cNvPr id="2" name="Holder 2"/>
          <p:cNvSpPr>
            <a:spLocks noGrp="1"/>
          </p:cNvSpPr>
          <p:nvPr>
            <p:ph type="title"/>
          </p:nvPr>
        </p:nvSpPr>
        <p:spPr>
          <a:xfrm>
            <a:off x="1748408" y="265252"/>
            <a:ext cx="4841621" cy="872743"/>
          </a:xfrm>
          <a:prstGeom prst="rect">
            <a:avLst/>
          </a:prstGeom>
        </p:spPr>
        <p:txBody>
          <a:bodyPr wrap="square" lIns="0" tIns="0" rIns="0" bIns="0">
            <a:spAutoFit/>
          </a:bodyPr>
          <a:lstStyle>
            <a:lvl1pPr>
              <a:defRPr sz="4000" b="0" i="0">
                <a:solidFill>
                  <a:srgbClr val="252525"/>
                </a:solidFill>
                <a:latin typeface="Times New Roman"/>
                <a:cs typeface="Times New Roman"/>
              </a:defRPr>
            </a:lvl1pPr>
          </a:lstStyle>
          <a:p>
            <a:endParaRPr/>
          </a:p>
        </p:txBody>
      </p:sp>
      <p:sp>
        <p:nvSpPr>
          <p:cNvPr id="3" name="Holder 3"/>
          <p:cNvSpPr>
            <a:spLocks noGrp="1"/>
          </p:cNvSpPr>
          <p:nvPr>
            <p:ph type="body" idx="1"/>
          </p:nvPr>
        </p:nvSpPr>
        <p:spPr>
          <a:xfrm>
            <a:off x="1717294" y="1571701"/>
            <a:ext cx="9605010" cy="4304665"/>
          </a:xfrm>
          <a:prstGeom prst="rect">
            <a:avLst/>
          </a:prstGeom>
        </p:spPr>
        <p:txBody>
          <a:bodyPr wrap="square" lIns="0" tIns="0" rIns="0" bIns="0">
            <a:spAutoFit/>
          </a:bodyPr>
          <a:lstStyle>
            <a:lvl1pPr>
              <a:defRPr sz="2400" b="0" i="0">
                <a:solidFill>
                  <a:srgbClr val="404040"/>
                </a:solidFill>
                <a:latin typeface="Times New Roman"/>
                <a:cs typeface="Times New Roman"/>
              </a:defRPr>
            </a:lvl1pPr>
          </a:lstStyle>
          <a:p>
            <a:endParaRPr/>
          </a:p>
        </p:txBody>
      </p:sp>
      <p:sp>
        <p:nvSpPr>
          <p:cNvPr id="4" name="Holder 4"/>
          <p:cNvSpPr>
            <a:spLocks noGrp="1"/>
          </p:cNvSpPr>
          <p:nvPr>
            <p:ph type="ftr" sz="quarter" idx="5"/>
          </p:nvPr>
        </p:nvSpPr>
        <p:spPr>
          <a:xfrm>
            <a:off x="4145280" y="6377940"/>
            <a:ext cx="3901440" cy="34290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609600" y="6377940"/>
            <a:ext cx="280416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11/14/2025</a:t>
            </a:fld>
            <a:endParaRPr lang="en-US"/>
          </a:p>
        </p:txBody>
      </p:sp>
      <p:sp>
        <p:nvSpPr>
          <p:cNvPr id="6" name="Holder 6"/>
          <p:cNvSpPr>
            <a:spLocks noGrp="1"/>
          </p:cNvSpPr>
          <p:nvPr>
            <p:ph type="sldNum" sz="quarter" idx="7"/>
          </p:nvPr>
        </p:nvSpPr>
        <p:spPr>
          <a:xfrm>
            <a:off x="11589131" y="6349116"/>
            <a:ext cx="372745" cy="337820"/>
          </a:xfrm>
          <a:prstGeom prst="rect">
            <a:avLst/>
          </a:prstGeom>
        </p:spPr>
        <p:txBody>
          <a:bodyPr wrap="square" lIns="0" tIns="0" rIns="0" bIns="0">
            <a:spAutoFit/>
          </a:bodyPr>
          <a:lstStyle>
            <a:lvl1pPr>
              <a:defRPr sz="2000" b="0" i="0">
                <a:solidFill>
                  <a:schemeClr val="bg1"/>
                </a:solidFill>
                <a:latin typeface="Verdana"/>
                <a:cs typeface="Verdana"/>
              </a:defRPr>
            </a:lvl1pPr>
          </a:lstStyle>
          <a:p>
            <a:pPr marL="179705">
              <a:lnSpc>
                <a:spcPct val="100000"/>
              </a:lnSpc>
              <a:spcBef>
                <a:spcPts val="114"/>
              </a:spcBef>
            </a:pPr>
            <a:fld id="{81D60167-4931-47E6-BA6A-407CBD079E47}" type="slidenum">
              <a:rPr spc="-50" dirty="0"/>
              <a:t>‹#›</a:t>
            </a:fld>
            <a:endParaRPr spc="-50" dirty="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3.png"/><Relationship Id="rId5" Type="http://schemas.openxmlformats.org/officeDocument/2006/relationships/image" Target="../media/image5.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4.xml"/><Relationship Id="rId4" Type="http://schemas.openxmlformats.org/officeDocument/2006/relationships/image" Target="../media/image9.png"/></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0" y="-761"/>
            <a:ext cx="12192000" cy="6859270"/>
            <a:chOff x="0" y="-761"/>
            <a:chExt cx="12192000" cy="6859270"/>
          </a:xfrm>
        </p:grpSpPr>
        <p:pic>
          <p:nvPicPr>
            <p:cNvPr id="3" name="object 3"/>
            <p:cNvPicPr/>
            <p:nvPr/>
          </p:nvPicPr>
          <p:blipFill>
            <a:blip r:embed="rId3" cstate="print"/>
            <a:stretch>
              <a:fillRect/>
            </a:stretch>
          </p:blipFill>
          <p:spPr>
            <a:xfrm>
              <a:off x="0" y="0"/>
              <a:ext cx="12192000" cy="6858000"/>
            </a:xfrm>
            <a:prstGeom prst="rect">
              <a:avLst/>
            </a:prstGeom>
          </p:spPr>
        </p:pic>
        <p:pic>
          <p:nvPicPr>
            <p:cNvPr id="4" name="object 4"/>
            <p:cNvPicPr/>
            <p:nvPr/>
          </p:nvPicPr>
          <p:blipFill>
            <a:blip r:embed="rId4" cstate="print"/>
            <a:stretch>
              <a:fillRect/>
            </a:stretch>
          </p:blipFill>
          <p:spPr>
            <a:xfrm>
              <a:off x="0" y="-761"/>
              <a:ext cx="2851530" cy="6858761"/>
            </a:xfrm>
            <a:prstGeom prst="rect">
              <a:avLst/>
            </a:prstGeom>
          </p:spPr>
        </p:pic>
        <p:sp>
          <p:nvSpPr>
            <p:cNvPr id="5" name="object 5"/>
            <p:cNvSpPr/>
            <p:nvPr/>
          </p:nvSpPr>
          <p:spPr>
            <a:xfrm>
              <a:off x="0" y="0"/>
              <a:ext cx="182880" cy="6858000"/>
            </a:xfrm>
            <a:custGeom>
              <a:avLst/>
              <a:gdLst/>
              <a:ahLst/>
              <a:cxnLst/>
              <a:rect l="l" t="t" r="r" b="b"/>
              <a:pathLst>
                <a:path w="182880" h="6858000">
                  <a:moveTo>
                    <a:pt x="182880" y="0"/>
                  </a:moveTo>
                  <a:lnTo>
                    <a:pt x="0" y="0"/>
                  </a:lnTo>
                  <a:lnTo>
                    <a:pt x="0" y="6858000"/>
                  </a:lnTo>
                  <a:lnTo>
                    <a:pt x="182880" y="6858000"/>
                  </a:lnTo>
                  <a:lnTo>
                    <a:pt x="182880" y="0"/>
                  </a:lnTo>
                  <a:close/>
                </a:path>
              </a:pathLst>
            </a:custGeom>
            <a:solidFill>
              <a:srgbClr val="766E53"/>
            </a:solidFill>
          </p:spPr>
          <p:txBody>
            <a:bodyPr wrap="square" lIns="0" tIns="0" rIns="0" bIns="0" rtlCol="0"/>
            <a:lstStyle/>
            <a:p>
              <a:endParaRPr/>
            </a:p>
          </p:txBody>
        </p:sp>
      </p:grpSp>
      <p:sp>
        <p:nvSpPr>
          <p:cNvPr id="6" name="object 6"/>
          <p:cNvSpPr txBox="1">
            <a:spLocks noGrp="1"/>
          </p:cNvSpPr>
          <p:nvPr>
            <p:ph type="title"/>
          </p:nvPr>
        </p:nvSpPr>
        <p:spPr>
          <a:xfrm>
            <a:off x="2938398" y="1620773"/>
            <a:ext cx="7559040" cy="1613262"/>
          </a:xfrm>
          <a:prstGeom prst="rect">
            <a:avLst/>
          </a:prstGeom>
        </p:spPr>
        <p:txBody>
          <a:bodyPr vert="horz" wrap="square" lIns="0" tIns="12700" rIns="0" bIns="0" rtlCol="0">
            <a:spAutoFit/>
          </a:bodyPr>
          <a:lstStyle/>
          <a:p>
            <a:pPr marL="1768475" marR="1758950" algn="ctr">
              <a:lnSpc>
                <a:spcPct val="100000"/>
              </a:lnSpc>
              <a:spcBef>
                <a:spcPts val="100"/>
              </a:spcBef>
            </a:pPr>
            <a:r>
              <a:rPr sz="3600" dirty="0"/>
              <a:t>Synopsis</a:t>
            </a:r>
            <a:r>
              <a:rPr sz="3600" spc="-10" dirty="0"/>
              <a:t> Presentation </a:t>
            </a:r>
            <a:r>
              <a:rPr sz="3600" spc="-25" dirty="0"/>
              <a:t>on</a:t>
            </a:r>
            <a:endParaRPr sz="3600" dirty="0"/>
          </a:p>
          <a:p>
            <a:pPr algn="ctr">
              <a:lnSpc>
                <a:spcPct val="100000"/>
              </a:lnSpc>
              <a:spcBef>
                <a:spcPts val="30"/>
              </a:spcBef>
            </a:pPr>
            <a:r>
              <a:rPr lang="en-IN" sz="3200" dirty="0"/>
              <a:t>E-Commerce Sales Prediction</a:t>
            </a:r>
            <a:endParaRPr sz="3200" dirty="0">
              <a:latin typeface="Times New Roman" panose="02020603050405020304" pitchFamily="18" charset="0"/>
              <a:cs typeface="Times New Roman" panose="02020603050405020304" pitchFamily="18" charset="0"/>
            </a:endParaRPr>
          </a:p>
        </p:txBody>
      </p:sp>
      <p:sp>
        <p:nvSpPr>
          <p:cNvPr id="7" name="object 7"/>
          <p:cNvSpPr txBox="1"/>
          <p:nvPr/>
        </p:nvSpPr>
        <p:spPr>
          <a:xfrm>
            <a:off x="2454655" y="4450679"/>
            <a:ext cx="2498345" cy="822020"/>
          </a:xfrm>
          <a:prstGeom prst="rect">
            <a:avLst/>
          </a:prstGeom>
        </p:spPr>
        <p:txBody>
          <a:bodyPr vert="horz" wrap="square" lIns="0" tIns="138430" rIns="0" bIns="0" rtlCol="0">
            <a:spAutoFit/>
          </a:bodyPr>
          <a:lstStyle/>
          <a:p>
            <a:pPr marL="12700">
              <a:lnSpc>
                <a:spcPct val="100000"/>
              </a:lnSpc>
              <a:spcBef>
                <a:spcPts val="1090"/>
              </a:spcBef>
            </a:pPr>
            <a:r>
              <a:rPr sz="1800" b="1" dirty="0">
                <a:solidFill>
                  <a:srgbClr val="585858"/>
                </a:solidFill>
                <a:latin typeface="Times New Roman"/>
                <a:cs typeface="Times New Roman"/>
              </a:rPr>
              <a:t>Guided</a:t>
            </a:r>
            <a:r>
              <a:rPr sz="1800" b="1" spc="-10" dirty="0">
                <a:solidFill>
                  <a:srgbClr val="585858"/>
                </a:solidFill>
                <a:latin typeface="Times New Roman"/>
                <a:cs typeface="Times New Roman"/>
              </a:rPr>
              <a:t> </a:t>
            </a:r>
            <a:r>
              <a:rPr sz="1800" b="1" spc="-25" dirty="0">
                <a:solidFill>
                  <a:srgbClr val="585858"/>
                </a:solidFill>
                <a:latin typeface="Times New Roman"/>
                <a:cs typeface="Times New Roman"/>
              </a:rPr>
              <a:t>By:</a:t>
            </a:r>
            <a:endParaRPr sz="1800" dirty="0">
              <a:latin typeface="Times New Roman"/>
              <a:cs typeface="Times New Roman"/>
            </a:endParaRPr>
          </a:p>
          <a:p>
            <a:pPr marL="12700">
              <a:lnSpc>
                <a:spcPct val="100000"/>
              </a:lnSpc>
              <a:spcBef>
                <a:spcPts val="994"/>
              </a:spcBef>
            </a:pPr>
            <a:r>
              <a:rPr lang="en-IN" dirty="0"/>
              <a:t>Prof. Mahendra Verma</a:t>
            </a:r>
            <a:endParaRPr sz="1800" dirty="0">
              <a:latin typeface="Verdana"/>
              <a:cs typeface="Verdana"/>
            </a:endParaRPr>
          </a:p>
        </p:txBody>
      </p:sp>
      <p:sp>
        <p:nvSpPr>
          <p:cNvPr id="8" name="object 8"/>
          <p:cNvSpPr txBox="1"/>
          <p:nvPr/>
        </p:nvSpPr>
        <p:spPr>
          <a:xfrm>
            <a:off x="7224775" y="4576698"/>
            <a:ext cx="3830320" cy="1682833"/>
          </a:xfrm>
          <a:prstGeom prst="rect">
            <a:avLst/>
          </a:prstGeom>
        </p:spPr>
        <p:txBody>
          <a:bodyPr vert="horz" wrap="square" lIns="0" tIns="12700" rIns="0" bIns="0" rtlCol="0">
            <a:spAutoFit/>
          </a:bodyPr>
          <a:lstStyle/>
          <a:p>
            <a:pPr marL="68580">
              <a:lnSpc>
                <a:spcPct val="100000"/>
              </a:lnSpc>
              <a:spcBef>
                <a:spcPts val="100"/>
              </a:spcBef>
            </a:pPr>
            <a:r>
              <a:rPr sz="1800" b="1" dirty="0">
                <a:solidFill>
                  <a:srgbClr val="585858"/>
                </a:solidFill>
                <a:latin typeface="Times New Roman"/>
                <a:cs typeface="Times New Roman"/>
              </a:rPr>
              <a:t>Presented</a:t>
            </a:r>
            <a:r>
              <a:rPr sz="1800" b="1" spc="-75" dirty="0">
                <a:solidFill>
                  <a:srgbClr val="585858"/>
                </a:solidFill>
                <a:latin typeface="Times New Roman"/>
                <a:cs typeface="Times New Roman"/>
              </a:rPr>
              <a:t> </a:t>
            </a:r>
            <a:r>
              <a:rPr sz="1800" b="1" spc="-25" dirty="0">
                <a:solidFill>
                  <a:srgbClr val="585858"/>
                </a:solidFill>
                <a:latin typeface="Times New Roman"/>
                <a:cs typeface="Times New Roman"/>
              </a:rPr>
              <a:t>By:</a:t>
            </a:r>
            <a:endParaRPr sz="1800" dirty="0">
              <a:latin typeface="Times New Roman"/>
              <a:cs typeface="Times New Roman"/>
            </a:endParaRPr>
          </a:p>
          <a:p>
            <a:pPr marL="12700">
              <a:lnSpc>
                <a:spcPct val="100000"/>
              </a:lnSpc>
              <a:spcBef>
                <a:spcPts val="1395"/>
              </a:spcBef>
            </a:pPr>
            <a:r>
              <a:rPr lang="en-IN" sz="1400" spc="-20" dirty="0">
                <a:solidFill>
                  <a:srgbClr val="585858"/>
                </a:solidFill>
                <a:latin typeface="Verdana"/>
                <a:cs typeface="Verdana"/>
              </a:rPr>
              <a:t>Hariom Mandloi</a:t>
            </a:r>
            <a:r>
              <a:rPr sz="1400" spc="-90" dirty="0">
                <a:solidFill>
                  <a:srgbClr val="585858"/>
                </a:solidFill>
                <a:latin typeface="Verdana"/>
                <a:cs typeface="Verdana"/>
              </a:rPr>
              <a:t> </a:t>
            </a:r>
            <a:r>
              <a:rPr sz="1400" spc="-80" dirty="0">
                <a:solidFill>
                  <a:srgbClr val="585858"/>
                </a:solidFill>
                <a:latin typeface="Verdana"/>
                <a:cs typeface="Verdana"/>
              </a:rPr>
              <a:t>(0827CD2210</a:t>
            </a:r>
            <a:r>
              <a:rPr lang="en-IN" sz="1400" spc="-80" dirty="0">
                <a:solidFill>
                  <a:srgbClr val="585858"/>
                </a:solidFill>
                <a:latin typeface="Verdana"/>
                <a:cs typeface="Verdana"/>
              </a:rPr>
              <a:t>33</a:t>
            </a:r>
            <a:r>
              <a:rPr sz="1400" spc="-80" dirty="0">
                <a:solidFill>
                  <a:srgbClr val="585858"/>
                </a:solidFill>
                <a:latin typeface="Verdana"/>
                <a:cs typeface="Verdana"/>
              </a:rPr>
              <a:t>)</a:t>
            </a:r>
            <a:endParaRPr sz="1400" dirty="0">
              <a:latin typeface="Verdana"/>
              <a:cs typeface="Verdana"/>
            </a:endParaRPr>
          </a:p>
          <a:p>
            <a:pPr marL="12700" marR="635635">
              <a:lnSpc>
                <a:spcPct val="160000"/>
              </a:lnSpc>
              <a:spcBef>
                <a:spcPts val="100"/>
              </a:spcBef>
            </a:pPr>
            <a:r>
              <a:rPr sz="1400" spc="-80" dirty="0">
                <a:solidFill>
                  <a:srgbClr val="585858"/>
                </a:solidFill>
                <a:latin typeface="Verdana"/>
                <a:cs typeface="Verdana"/>
              </a:rPr>
              <a:t>D</a:t>
            </a:r>
            <a:r>
              <a:rPr lang="en-IN" sz="1400" spc="-80" dirty="0" err="1">
                <a:solidFill>
                  <a:srgbClr val="585858"/>
                </a:solidFill>
                <a:latin typeface="Verdana"/>
                <a:cs typeface="Verdana"/>
              </a:rPr>
              <a:t>eepak</a:t>
            </a:r>
            <a:r>
              <a:rPr lang="en-IN" sz="1400" spc="-80" dirty="0">
                <a:solidFill>
                  <a:srgbClr val="585858"/>
                </a:solidFill>
                <a:latin typeface="Verdana"/>
                <a:cs typeface="Verdana"/>
              </a:rPr>
              <a:t> Patel</a:t>
            </a:r>
            <a:r>
              <a:rPr sz="1400" spc="-70" dirty="0">
                <a:solidFill>
                  <a:srgbClr val="585858"/>
                </a:solidFill>
                <a:latin typeface="Verdana"/>
                <a:cs typeface="Verdana"/>
              </a:rPr>
              <a:t> </a:t>
            </a:r>
            <a:r>
              <a:rPr sz="1400" spc="-25" dirty="0">
                <a:solidFill>
                  <a:srgbClr val="585858"/>
                </a:solidFill>
                <a:latin typeface="Verdana"/>
                <a:cs typeface="Verdana"/>
              </a:rPr>
              <a:t>(0827C</a:t>
            </a:r>
            <a:r>
              <a:rPr lang="en-IN" sz="1400" spc="-25" dirty="0">
                <a:solidFill>
                  <a:srgbClr val="585858"/>
                </a:solidFill>
                <a:latin typeface="Verdana"/>
                <a:cs typeface="Verdana"/>
              </a:rPr>
              <a:t>D2</a:t>
            </a:r>
            <a:r>
              <a:rPr sz="1400" spc="-25" dirty="0">
                <a:solidFill>
                  <a:srgbClr val="585858"/>
                </a:solidFill>
                <a:latin typeface="Verdana"/>
                <a:cs typeface="Verdana"/>
              </a:rPr>
              <a:t>210</a:t>
            </a:r>
            <a:r>
              <a:rPr lang="en-IN" sz="1400" spc="-25" dirty="0">
                <a:solidFill>
                  <a:srgbClr val="585858"/>
                </a:solidFill>
                <a:latin typeface="Verdana"/>
                <a:cs typeface="Verdana"/>
              </a:rPr>
              <a:t>23</a:t>
            </a:r>
            <a:r>
              <a:rPr sz="1400" spc="-25" dirty="0">
                <a:solidFill>
                  <a:srgbClr val="585858"/>
                </a:solidFill>
                <a:latin typeface="Verdana"/>
                <a:cs typeface="Verdana"/>
              </a:rPr>
              <a:t>) </a:t>
            </a:r>
            <a:r>
              <a:rPr lang="en-IN" sz="1400" spc="-80" dirty="0">
                <a:solidFill>
                  <a:srgbClr val="585858"/>
                </a:solidFill>
                <a:latin typeface="Verdana"/>
                <a:cs typeface="Verdana"/>
              </a:rPr>
              <a:t>Deepak Patel</a:t>
            </a:r>
            <a:r>
              <a:rPr sz="1400" spc="5" dirty="0">
                <a:solidFill>
                  <a:srgbClr val="585858"/>
                </a:solidFill>
                <a:latin typeface="Verdana"/>
                <a:cs typeface="Verdana"/>
              </a:rPr>
              <a:t> </a:t>
            </a:r>
            <a:r>
              <a:rPr sz="1400" spc="-90" dirty="0">
                <a:solidFill>
                  <a:srgbClr val="585858"/>
                </a:solidFill>
                <a:latin typeface="Verdana"/>
                <a:cs typeface="Verdana"/>
              </a:rPr>
              <a:t>(0827CD2210</a:t>
            </a:r>
            <a:r>
              <a:rPr lang="en-IN" sz="1400" spc="-90" dirty="0">
                <a:solidFill>
                  <a:srgbClr val="585858"/>
                </a:solidFill>
                <a:latin typeface="Verdana"/>
                <a:cs typeface="Verdana"/>
              </a:rPr>
              <a:t>24</a:t>
            </a:r>
            <a:r>
              <a:rPr sz="1400" spc="-90" dirty="0">
                <a:solidFill>
                  <a:srgbClr val="585858"/>
                </a:solidFill>
                <a:latin typeface="Verdana"/>
                <a:cs typeface="Verdana"/>
              </a:rPr>
              <a:t>)</a:t>
            </a:r>
            <a:r>
              <a:rPr lang="en-IN" sz="1400" dirty="0">
                <a:latin typeface="Verdana"/>
                <a:cs typeface="Verdana"/>
              </a:rPr>
              <a:t> </a:t>
            </a:r>
            <a:r>
              <a:rPr lang="en-IN" sz="1400" spc="-40" dirty="0">
                <a:solidFill>
                  <a:srgbClr val="585858"/>
                </a:solidFill>
                <a:latin typeface="Verdana"/>
                <a:cs typeface="Verdana"/>
              </a:rPr>
              <a:t>Shubham </a:t>
            </a:r>
            <a:r>
              <a:rPr lang="en-IN" sz="1400" spc="-40" dirty="0" err="1">
                <a:solidFill>
                  <a:srgbClr val="585858"/>
                </a:solidFill>
                <a:latin typeface="Verdana"/>
                <a:cs typeface="Verdana"/>
              </a:rPr>
              <a:t>Siloriya</a:t>
            </a:r>
            <a:r>
              <a:rPr lang="en-IN" sz="1400" spc="-25" dirty="0">
                <a:solidFill>
                  <a:srgbClr val="585858"/>
                </a:solidFill>
                <a:latin typeface="Verdana"/>
                <a:cs typeface="Verdana"/>
              </a:rPr>
              <a:t>(0827CD221068)</a:t>
            </a:r>
            <a:endParaRPr lang="en-IN" sz="1400" dirty="0">
              <a:latin typeface="Verdana"/>
              <a:cs typeface="Verdana"/>
            </a:endParaRPr>
          </a:p>
        </p:txBody>
      </p:sp>
      <p:pic>
        <p:nvPicPr>
          <p:cNvPr id="9" name="object 9"/>
          <p:cNvPicPr/>
          <p:nvPr/>
        </p:nvPicPr>
        <p:blipFill>
          <a:blip r:embed="rId5" cstate="print"/>
          <a:stretch>
            <a:fillRect/>
          </a:stretch>
        </p:blipFill>
        <p:spPr>
          <a:xfrm>
            <a:off x="10867008" y="0"/>
            <a:ext cx="1175715" cy="1735963"/>
          </a:xfrm>
          <a:prstGeom prst="rect">
            <a:avLst/>
          </a:prstGeom>
        </p:spPr>
      </p:pic>
      <p:pic>
        <p:nvPicPr>
          <p:cNvPr id="10" name="object 10"/>
          <p:cNvPicPr/>
          <p:nvPr/>
        </p:nvPicPr>
        <p:blipFill>
          <a:blip r:embed="rId6" cstate="print"/>
          <a:stretch>
            <a:fillRect/>
          </a:stretch>
        </p:blipFill>
        <p:spPr>
          <a:xfrm>
            <a:off x="221970" y="0"/>
            <a:ext cx="1620139" cy="1381887"/>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668270" y="492379"/>
            <a:ext cx="1832610" cy="635000"/>
          </a:xfrm>
          <a:prstGeom prst="rect">
            <a:avLst/>
          </a:prstGeom>
        </p:spPr>
        <p:txBody>
          <a:bodyPr vert="horz" wrap="square" lIns="0" tIns="12065" rIns="0" bIns="0" rtlCol="0">
            <a:spAutoFit/>
          </a:bodyPr>
          <a:lstStyle/>
          <a:p>
            <a:pPr marL="12700">
              <a:lnSpc>
                <a:spcPct val="100000"/>
              </a:lnSpc>
              <a:spcBef>
                <a:spcPts val="95"/>
              </a:spcBef>
            </a:pPr>
            <a:r>
              <a:rPr spc="-10" dirty="0"/>
              <a:t>Contents</a:t>
            </a:r>
          </a:p>
        </p:txBody>
      </p:sp>
      <p:sp>
        <p:nvSpPr>
          <p:cNvPr id="4" name="object 4"/>
          <p:cNvSpPr txBox="1">
            <a:spLocks noGrp="1"/>
          </p:cNvSpPr>
          <p:nvPr>
            <p:ph type="sldNum" sz="quarter" idx="7"/>
          </p:nvPr>
        </p:nvSpPr>
        <p:spPr>
          <a:prstGeom prst="rect">
            <a:avLst/>
          </a:prstGeom>
        </p:spPr>
        <p:txBody>
          <a:bodyPr vert="horz" wrap="square" lIns="0" tIns="14604" rIns="0" bIns="0" rtlCol="0">
            <a:spAutoFit/>
          </a:bodyPr>
          <a:lstStyle/>
          <a:p>
            <a:pPr marL="179705">
              <a:lnSpc>
                <a:spcPct val="100000"/>
              </a:lnSpc>
              <a:spcBef>
                <a:spcPts val="114"/>
              </a:spcBef>
            </a:pPr>
            <a:fld id="{81D60167-4931-47E6-BA6A-407CBD079E47}" type="slidenum">
              <a:rPr spc="-50" dirty="0"/>
              <a:t>2</a:t>
            </a:fld>
            <a:endParaRPr spc="-50" dirty="0"/>
          </a:p>
        </p:txBody>
      </p:sp>
      <p:sp>
        <p:nvSpPr>
          <p:cNvPr id="3" name="object 3"/>
          <p:cNvSpPr txBox="1"/>
          <p:nvPr/>
        </p:nvSpPr>
        <p:spPr>
          <a:xfrm>
            <a:off x="2668270" y="1028321"/>
            <a:ext cx="3190875" cy="5388610"/>
          </a:xfrm>
          <a:prstGeom prst="rect">
            <a:avLst/>
          </a:prstGeom>
        </p:spPr>
        <p:txBody>
          <a:bodyPr vert="horz" wrap="square" lIns="0" tIns="127635" rIns="0" bIns="0" rtlCol="0">
            <a:spAutoFit/>
          </a:bodyPr>
          <a:lstStyle/>
          <a:p>
            <a:pPr marL="469265" indent="-456565">
              <a:lnSpc>
                <a:spcPct val="100000"/>
              </a:lnSpc>
              <a:spcBef>
                <a:spcPts val="1005"/>
              </a:spcBef>
              <a:buClr>
                <a:srgbClr val="A42F0F"/>
              </a:buClr>
              <a:buAutoNum type="arabicPeriod"/>
              <a:tabLst>
                <a:tab pos="469265" algn="l"/>
              </a:tabLst>
            </a:pPr>
            <a:r>
              <a:rPr sz="2200" spc="-10" dirty="0">
                <a:solidFill>
                  <a:srgbClr val="404040"/>
                </a:solidFill>
                <a:latin typeface="Times New Roman"/>
                <a:cs typeface="Times New Roman"/>
              </a:rPr>
              <a:t>Introduction</a:t>
            </a:r>
            <a:endParaRPr sz="2200">
              <a:latin typeface="Times New Roman"/>
              <a:cs typeface="Times New Roman"/>
            </a:endParaRPr>
          </a:p>
          <a:p>
            <a:pPr marL="830580" lvl="1" indent="-360680">
              <a:lnSpc>
                <a:spcPct val="100000"/>
              </a:lnSpc>
              <a:spcBef>
                <a:spcPts val="780"/>
              </a:spcBef>
              <a:buClr>
                <a:srgbClr val="C00000"/>
              </a:buClr>
              <a:buAutoNum type="arabicPeriod"/>
              <a:tabLst>
                <a:tab pos="830580" algn="l"/>
              </a:tabLst>
            </a:pPr>
            <a:r>
              <a:rPr sz="1900" spc="-10" dirty="0">
                <a:solidFill>
                  <a:srgbClr val="404040"/>
                </a:solidFill>
                <a:latin typeface="Times New Roman"/>
                <a:cs typeface="Times New Roman"/>
              </a:rPr>
              <a:t>Overview</a:t>
            </a:r>
            <a:endParaRPr sz="1900">
              <a:latin typeface="Times New Roman"/>
              <a:cs typeface="Times New Roman"/>
            </a:endParaRPr>
          </a:p>
          <a:p>
            <a:pPr marL="830580" lvl="1" indent="-360680">
              <a:lnSpc>
                <a:spcPct val="100000"/>
              </a:lnSpc>
              <a:spcBef>
                <a:spcPts val="780"/>
              </a:spcBef>
              <a:buClr>
                <a:srgbClr val="C00000"/>
              </a:buClr>
              <a:buAutoNum type="arabicPeriod"/>
              <a:tabLst>
                <a:tab pos="830580" algn="l"/>
              </a:tabLst>
            </a:pPr>
            <a:r>
              <a:rPr sz="1900" spc="-10" dirty="0">
                <a:solidFill>
                  <a:srgbClr val="404040"/>
                </a:solidFill>
                <a:latin typeface="Times New Roman"/>
                <a:cs typeface="Times New Roman"/>
              </a:rPr>
              <a:t>Purpose</a:t>
            </a:r>
            <a:endParaRPr sz="1900">
              <a:latin typeface="Times New Roman"/>
              <a:cs typeface="Times New Roman"/>
            </a:endParaRPr>
          </a:p>
          <a:p>
            <a:pPr marL="469265" indent="-456565">
              <a:lnSpc>
                <a:spcPct val="100000"/>
              </a:lnSpc>
              <a:spcBef>
                <a:spcPts val="720"/>
              </a:spcBef>
              <a:buClr>
                <a:srgbClr val="A42F0F"/>
              </a:buClr>
              <a:buAutoNum type="arabicPeriod"/>
              <a:tabLst>
                <a:tab pos="469265" algn="l"/>
              </a:tabLst>
            </a:pPr>
            <a:r>
              <a:rPr sz="2200" dirty="0">
                <a:solidFill>
                  <a:srgbClr val="404040"/>
                </a:solidFill>
                <a:latin typeface="Times New Roman"/>
                <a:cs typeface="Times New Roman"/>
              </a:rPr>
              <a:t>Literature</a:t>
            </a:r>
            <a:r>
              <a:rPr sz="2200" spc="-70" dirty="0">
                <a:solidFill>
                  <a:srgbClr val="404040"/>
                </a:solidFill>
                <a:latin typeface="Times New Roman"/>
                <a:cs typeface="Times New Roman"/>
              </a:rPr>
              <a:t> </a:t>
            </a:r>
            <a:r>
              <a:rPr sz="2200" spc="-10" dirty="0">
                <a:solidFill>
                  <a:srgbClr val="404040"/>
                </a:solidFill>
                <a:latin typeface="Times New Roman"/>
                <a:cs typeface="Times New Roman"/>
              </a:rPr>
              <a:t>Review</a:t>
            </a:r>
            <a:endParaRPr sz="2200">
              <a:latin typeface="Times New Roman"/>
              <a:cs typeface="Times New Roman"/>
            </a:endParaRPr>
          </a:p>
          <a:p>
            <a:pPr marL="469265" indent="-456565">
              <a:lnSpc>
                <a:spcPct val="100000"/>
              </a:lnSpc>
              <a:spcBef>
                <a:spcPts val="730"/>
              </a:spcBef>
              <a:buClr>
                <a:srgbClr val="A42F0F"/>
              </a:buClr>
              <a:buAutoNum type="arabicPeriod"/>
              <a:tabLst>
                <a:tab pos="469265" algn="l"/>
              </a:tabLst>
            </a:pPr>
            <a:r>
              <a:rPr sz="2200" dirty="0">
                <a:solidFill>
                  <a:srgbClr val="404040"/>
                </a:solidFill>
                <a:latin typeface="Times New Roman"/>
                <a:cs typeface="Times New Roman"/>
              </a:rPr>
              <a:t>Problem</a:t>
            </a:r>
            <a:r>
              <a:rPr sz="2200" spc="-70" dirty="0">
                <a:solidFill>
                  <a:srgbClr val="404040"/>
                </a:solidFill>
                <a:latin typeface="Times New Roman"/>
                <a:cs typeface="Times New Roman"/>
              </a:rPr>
              <a:t> </a:t>
            </a:r>
            <a:r>
              <a:rPr sz="2200" spc="-10" dirty="0">
                <a:solidFill>
                  <a:srgbClr val="404040"/>
                </a:solidFill>
                <a:latin typeface="Times New Roman"/>
                <a:cs typeface="Times New Roman"/>
              </a:rPr>
              <a:t>Statement</a:t>
            </a:r>
            <a:endParaRPr sz="2200">
              <a:latin typeface="Times New Roman"/>
              <a:cs typeface="Times New Roman"/>
            </a:endParaRPr>
          </a:p>
          <a:p>
            <a:pPr marL="469265" indent="-456565">
              <a:lnSpc>
                <a:spcPct val="100000"/>
              </a:lnSpc>
              <a:spcBef>
                <a:spcPts val="745"/>
              </a:spcBef>
              <a:buClr>
                <a:srgbClr val="A42F0F"/>
              </a:buClr>
              <a:buAutoNum type="arabicPeriod"/>
              <a:tabLst>
                <a:tab pos="469265" algn="l"/>
              </a:tabLst>
            </a:pPr>
            <a:r>
              <a:rPr sz="2200" dirty="0">
                <a:solidFill>
                  <a:srgbClr val="404040"/>
                </a:solidFill>
                <a:latin typeface="Times New Roman"/>
                <a:cs typeface="Times New Roman"/>
              </a:rPr>
              <a:t>Proposed</a:t>
            </a:r>
            <a:r>
              <a:rPr sz="2200" spc="-55" dirty="0">
                <a:solidFill>
                  <a:srgbClr val="404040"/>
                </a:solidFill>
                <a:latin typeface="Times New Roman"/>
                <a:cs typeface="Times New Roman"/>
              </a:rPr>
              <a:t> </a:t>
            </a:r>
            <a:r>
              <a:rPr sz="2200" spc="-10" dirty="0">
                <a:solidFill>
                  <a:srgbClr val="404040"/>
                </a:solidFill>
                <a:latin typeface="Times New Roman"/>
                <a:cs typeface="Times New Roman"/>
              </a:rPr>
              <a:t>Solution</a:t>
            </a:r>
            <a:endParaRPr sz="2200">
              <a:latin typeface="Times New Roman"/>
              <a:cs typeface="Times New Roman"/>
            </a:endParaRPr>
          </a:p>
          <a:p>
            <a:pPr marL="469265" indent="-456565">
              <a:lnSpc>
                <a:spcPct val="100000"/>
              </a:lnSpc>
              <a:spcBef>
                <a:spcPts val="735"/>
              </a:spcBef>
              <a:buClr>
                <a:srgbClr val="A42F0F"/>
              </a:buClr>
              <a:buAutoNum type="arabicPeriod"/>
              <a:tabLst>
                <a:tab pos="469265" algn="l"/>
              </a:tabLst>
            </a:pPr>
            <a:r>
              <a:rPr sz="2200" spc="-10" dirty="0">
                <a:solidFill>
                  <a:srgbClr val="404040"/>
                </a:solidFill>
                <a:latin typeface="Times New Roman"/>
                <a:cs typeface="Times New Roman"/>
              </a:rPr>
              <a:t>Objectives</a:t>
            </a:r>
            <a:endParaRPr sz="2200">
              <a:latin typeface="Times New Roman"/>
              <a:cs typeface="Times New Roman"/>
            </a:endParaRPr>
          </a:p>
          <a:p>
            <a:pPr marL="469265" indent="-456565">
              <a:lnSpc>
                <a:spcPct val="100000"/>
              </a:lnSpc>
              <a:spcBef>
                <a:spcPts val="765"/>
              </a:spcBef>
              <a:buClr>
                <a:srgbClr val="A42F0F"/>
              </a:buClr>
              <a:buAutoNum type="arabicPeriod"/>
              <a:tabLst>
                <a:tab pos="469265" algn="l"/>
              </a:tabLst>
            </a:pPr>
            <a:r>
              <a:rPr sz="2000" spc="-10" dirty="0">
                <a:solidFill>
                  <a:srgbClr val="404040"/>
                </a:solidFill>
                <a:latin typeface="Times New Roman"/>
                <a:cs typeface="Times New Roman"/>
              </a:rPr>
              <a:t>Theoretical</a:t>
            </a:r>
            <a:r>
              <a:rPr sz="2000" spc="-45" dirty="0">
                <a:solidFill>
                  <a:srgbClr val="404040"/>
                </a:solidFill>
                <a:latin typeface="Times New Roman"/>
                <a:cs typeface="Times New Roman"/>
              </a:rPr>
              <a:t> </a:t>
            </a:r>
            <a:r>
              <a:rPr sz="2000" spc="-10" dirty="0">
                <a:solidFill>
                  <a:srgbClr val="404040"/>
                </a:solidFill>
                <a:latin typeface="Times New Roman"/>
                <a:cs typeface="Times New Roman"/>
              </a:rPr>
              <a:t>Analysis</a:t>
            </a:r>
            <a:endParaRPr sz="2000">
              <a:latin typeface="Times New Roman"/>
              <a:cs typeface="Times New Roman"/>
            </a:endParaRPr>
          </a:p>
          <a:p>
            <a:pPr marL="830580" lvl="1" indent="-360680">
              <a:lnSpc>
                <a:spcPct val="100000"/>
              </a:lnSpc>
              <a:spcBef>
                <a:spcPts val="785"/>
              </a:spcBef>
              <a:buClr>
                <a:srgbClr val="C00000"/>
              </a:buClr>
              <a:buAutoNum type="arabicPeriod"/>
              <a:tabLst>
                <a:tab pos="830580" algn="l"/>
              </a:tabLst>
            </a:pPr>
            <a:r>
              <a:rPr sz="1900" dirty="0">
                <a:solidFill>
                  <a:srgbClr val="404040"/>
                </a:solidFill>
                <a:latin typeface="Times New Roman"/>
                <a:cs typeface="Times New Roman"/>
              </a:rPr>
              <a:t>Block</a:t>
            </a:r>
            <a:r>
              <a:rPr sz="1900" spc="-5" dirty="0">
                <a:solidFill>
                  <a:srgbClr val="404040"/>
                </a:solidFill>
                <a:latin typeface="Times New Roman"/>
                <a:cs typeface="Times New Roman"/>
              </a:rPr>
              <a:t> </a:t>
            </a:r>
            <a:r>
              <a:rPr sz="1900" spc="-10" dirty="0">
                <a:solidFill>
                  <a:srgbClr val="404040"/>
                </a:solidFill>
                <a:latin typeface="Times New Roman"/>
                <a:cs typeface="Times New Roman"/>
              </a:rPr>
              <a:t>Diagram</a:t>
            </a:r>
            <a:endParaRPr sz="1900">
              <a:latin typeface="Times New Roman"/>
              <a:cs typeface="Times New Roman"/>
            </a:endParaRPr>
          </a:p>
          <a:p>
            <a:pPr marL="830580" lvl="1" indent="-360680">
              <a:lnSpc>
                <a:spcPct val="100000"/>
              </a:lnSpc>
              <a:spcBef>
                <a:spcPts val="765"/>
              </a:spcBef>
              <a:buClr>
                <a:srgbClr val="C00000"/>
              </a:buClr>
              <a:buAutoNum type="arabicPeriod"/>
              <a:tabLst>
                <a:tab pos="830580" algn="l"/>
              </a:tabLst>
            </a:pPr>
            <a:r>
              <a:rPr sz="1900" dirty="0">
                <a:solidFill>
                  <a:srgbClr val="404040"/>
                </a:solidFill>
                <a:latin typeface="Times New Roman"/>
                <a:cs typeface="Times New Roman"/>
              </a:rPr>
              <a:t>Hardware</a:t>
            </a:r>
            <a:r>
              <a:rPr sz="1900" spc="-70" dirty="0">
                <a:solidFill>
                  <a:srgbClr val="404040"/>
                </a:solidFill>
                <a:latin typeface="Times New Roman"/>
                <a:cs typeface="Times New Roman"/>
              </a:rPr>
              <a:t> </a:t>
            </a:r>
            <a:r>
              <a:rPr sz="1900" spc="-10" dirty="0">
                <a:solidFill>
                  <a:srgbClr val="404040"/>
                </a:solidFill>
                <a:latin typeface="Times New Roman"/>
                <a:cs typeface="Times New Roman"/>
              </a:rPr>
              <a:t>Requirements</a:t>
            </a:r>
            <a:endParaRPr sz="1900">
              <a:latin typeface="Times New Roman"/>
              <a:cs typeface="Times New Roman"/>
            </a:endParaRPr>
          </a:p>
          <a:p>
            <a:pPr marL="830580" lvl="1" indent="-360680">
              <a:lnSpc>
                <a:spcPct val="100000"/>
              </a:lnSpc>
              <a:spcBef>
                <a:spcPts val="770"/>
              </a:spcBef>
              <a:buClr>
                <a:srgbClr val="C00000"/>
              </a:buClr>
              <a:buAutoNum type="arabicPeriod"/>
              <a:tabLst>
                <a:tab pos="830580" algn="l"/>
              </a:tabLst>
            </a:pPr>
            <a:r>
              <a:rPr sz="1900" dirty="0">
                <a:solidFill>
                  <a:srgbClr val="404040"/>
                </a:solidFill>
                <a:latin typeface="Times New Roman"/>
                <a:cs typeface="Times New Roman"/>
              </a:rPr>
              <a:t>Software</a:t>
            </a:r>
            <a:r>
              <a:rPr sz="1900" spc="-55" dirty="0">
                <a:solidFill>
                  <a:srgbClr val="404040"/>
                </a:solidFill>
                <a:latin typeface="Times New Roman"/>
                <a:cs typeface="Times New Roman"/>
              </a:rPr>
              <a:t> </a:t>
            </a:r>
            <a:r>
              <a:rPr sz="1900" spc="-10" dirty="0">
                <a:solidFill>
                  <a:srgbClr val="404040"/>
                </a:solidFill>
                <a:latin typeface="Times New Roman"/>
                <a:cs typeface="Times New Roman"/>
              </a:rPr>
              <a:t>Requirements</a:t>
            </a:r>
            <a:endParaRPr sz="1900">
              <a:latin typeface="Times New Roman"/>
              <a:cs typeface="Times New Roman"/>
            </a:endParaRPr>
          </a:p>
          <a:p>
            <a:pPr marL="469265" indent="-456565">
              <a:lnSpc>
                <a:spcPct val="100000"/>
              </a:lnSpc>
              <a:spcBef>
                <a:spcPts val="735"/>
              </a:spcBef>
              <a:buClr>
                <a:srgbClr val="A42F0F"/>
              </a:buClr>
              <a:buAutoNum type="arabicPeriod"/>
              <a:tabLst>
                <a:tab pos="469265" algn="l"/>
              </a:tabLst>
            </a:pPr>
            <a:r>
              <a:rPr sz="2200" spc="-10" dirty="0">
                <a:solidFill>
                  <a:srgbClr val="404040"/>
                </a:solidFill>
                <a:latin typeface="Times New Roman"/>
                <a:cs typeface="Times New Roman"/>
              </a:rPr>
              <a:t>Applications</a:t>
            </a:r>
            <a:endParaRPr sz="2200">
              <a:latin typeface="Times New Roman"/>
              <a:cs typeface="Times New Roman"/>
            </a:endParaRPr>
          </a:p>
          <a:p>
            <a:pPr marL="12700">
              <a:lnSpc>
                <a:spcPct val="100000"/>
              </a:lnSpc>
              <a:spcBef>
                <a:spcPts val="730"/>
              </a:spcBef>
            </a:pPr>
            <a:r>
              <a:rPr sz="2200" spc="-10" dirty="0">
                <a:solidFill>
                  <a:srgbClr val="404040"/>
                </a:solidFill>
                <a:latin typeface="Times New Roman"/>
                <a:cs typeface="Times New Roman"/>
              </a:rPr>
              <a:t>REFERENCES</a:t>
            </a:r>
            <a:endParaRPr sz="2200">
              <a:latin typeface="Times New Roman"/>
              <a:cs typeface="Times New Roman"/>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748408" y="448132"/>
            <a:ext cx="3046095" cy="635000"/>
          </a:xfrm>
          <a:prstGeom prst="rect">
            <a:avLst/>
          </a:prstGeom>
        </p:spPr>
        <p:txBody>
          <a:bodyPr vert="horz" wrap="square" lIns="0" tIns="12065" rIns="0" bIns="0" rtlCol="0">
            <a:spAutoFit/>
          </a:bodyPr>
          <a:lstStyle/>
          <a:p>
            <a:pPr marL="12700">
              <a:lnSpc>
                <a:spcPct val="100000"/>
              </a:lnSpc>
              <a:spcBef>
                <a:spcPts val="95"/>
              </a:spcBef>
            </a:pPr>
            <a:r>
              <a:rPr dirty="0"/>
              <a:t>1.</a:t>
            </a:r>
            <a:r>
              <a:rPr spc="-35" dirty="0"/>
              <a:t> </a:t>
            </a:r>
            <a:r>
              <a:rPr spc="-10" dirty="0"/>
              <a:t>Introduction</a:t>
            </a:r>
          </a:p>
        </p:txBody>
      </p:sp>
      <p:sp>
        <p:nvSpPr>
          <p:cNvPr id="5" name="object 5"/>
          <p:cNvSpPr txBox="1">
            <a:spLocks noGrp="1"/>
          </p:cNvSpPr>
          <p:nvPr>
            <p:ph type="sldNum" sz="quarter" idx="7"/>
          </p:nvPr>
        </p:nvSpPr>
        <p:spPr>
          <a:prstGeom prst="rect">
            <a:avLst/>
          </a:prstGeom>
        </p:spPr>
        <p:txBody>
          <a:bodyPr vert="horz" wrap="square" lIns="0" tIns="14604" rIns="0" bIns="0" rtlCol="0">
            <a:spAutoFit/>
          </a:bodyPr>
          <a:lstStyle/>
          <a:p>
            <a:pPr marL="179705">
              <a:lnSpc>
                <a:spcPct val="100000"/>
              </a:lnSpc>
              <a:spcBef>
                <a:spcPts val="114"/>
              </a:spcBef>
            </a:pPr>
            <a:fld id="{81D60167-4931-47E6-BA6A-407CBD079E47}" type="slidenum">
              <a:rPr spc="-50" dirty="0"/>
              <a:t>3</a:t>
            </a:fld>
            <a:endParaRPr spc="-50" dirty="0"/>
          </a:p>
        </p:txBody>
      </p:sp>
      <p:sp>
        <p:nvSpPr>
          <p:cNvPr id="3" name="object 3"/>
          <p:cNvSpPr txBox="1"/>
          <p:nvPr/>
        </p:nvSpPr>
        <p:spPr>
          <a:xfrm>
            <a:off x="1850389" y="1083132"/>
            <a:ext cx="10189211" cy="4855816"/>
          </a:xfrm>
          <a:prstGeom prst="rect">
            <a:avLst/>
          </a:prstGeom>
        </p:spPr>
        <p:txBody>
          <a:bodyPr vert="horz" wrap="square" lIns="0" tIns="165735" rIns="0" bIns="0" rtlCol="0">
            <a:spAutoFit/>
          </a:bodyPr>
          <a:lstStyle/>
          <a:p>
            <a:pPr marL="469900" lvl="1" indent="-457200">
              <a:lnSpc>
                <a:spcPct val="100000"/>
              </a:lnSpc>
              <a:spcBef>
                <a:spcPts val="1305"/>
              </a:spcBef>
              <a:buAutoNum type="arabicPeriod"/>
              <a:tabLst>
                <a:tab pos="469900" algn="l"/>
              </a:tabLst>
            </a:pPr>
            <a:r>
              <a:rPr sz="2400" b="1" spc="-10" dirty="0">
                <a:solidFill>
                  <a:srgbClr val="404040"/>
                </a:solidFill>
                <a:latin typeface="Times New Roman"/>
                <a:cs typeface="Times New Roman"/>
              </a:rPr>
              <a:t>Overview</a:t>
            </a:r>
            <a:endParaRPr lang="en-US" sz="2400" b="1" spc="-10" dirty="0">
              <a:solidFill>
                <a:srgbClr val="404040"/>
              </a:solidFill>
              <a:latin typeface="Times New Roman"/>
              <a:cs typeface="Times New Roman"/>
            </a:endParaRPr>
          </a:p>
          <a:p>
            <a:r>
              <a:rPr lang="en-US" sz="1800" dirty="0"/>
              <a:t>The E-commerce Sales Analysis and Prediction System is a data-driven software solution designed to analyze online shopping data, visualize trends, and build machine learning models to predict future sales, revenue, customer behavior, and product demand. </a:t>
            </a:r>
            <a:endParaRPr lang="en-US" dirty="0"/>
          </a:p>
          <a:p>
            <a:r>
              <a:rPr lang="en-US" sz="1800" dirty="0"/>
              <a:t>This project helps in understanding customer buying patterns, popular product categories, seasonal sales trends, and predicting future demand using historical data.</a:t>
            </a:r>
          </a:p>
          <a:p>
            <a:endParaRPr sz="3200" dirty="0">
              <a:latin typeface="Times New Roman" panose="02020603050405020304" pitchFamily="18" charset="0"/>
              <a:cs typeface="Times New Roman" panose="02020603050405020304" pitchFamily="18" charset="0"/>
            </a:endParaRPr>
          </a:p>
          <a:p>
            <a:pPr marL="469900" lvl="1" indent="-457200">
              <a:lnSpc>
                <a:spcPct val="100000"/>
              </a:lnSpc>
              <a:buAutoNum type="arabicPeriod" startAt="2"/>
              <a:tabLst>
                <a:tab pos="469900" algn="l"/>
              </a:tabLst>
            </a:pPr>
            <a:r>
              <a:rPr sz="2400" b="1" spc="-10" dirty="0">
                <a:latin typeface="Times New Roman"/>
                <a:cs typeface="Times New Roman"/>
              </a:rPr>
              <a:t>Purpose</a:t>
            </a:r>
            <a:endParaRPr lang="en-IN" sz="2400" b="1" spc="-10" dirty="0">
              <a:latin typeface="Times New Roman"/>
              <a:cs typeface="Times New Roman"/>
            </a:endParaRPr>
          </a:p>
          <a:p>
            <a:pPr lvl="0" algn="l">
              <a:spcBef>
                <a:spcPts val="200"/>
              </a:spcBef>
              <a:spcAft>
                <a:spcPts val="200"/>
              </a:spcAft>
            </a:pPr>
            <a:r>
              <a:rPr lang="en-US" dirty="0">
                <a:latin typeface="Times New Roman" panose="02020603050405020304" pitchFamily="18" charset="0"/>
                <a:cs typeface="Times New Roman" panose="02020603050405020304" pitchFamily="18" charset="0"/>
              </a:rPr>
              <a:t> </a:t>
            </a:r>
            <a:r>
              <a:rPr lang="en-US" sz="1900" dirty="0">
                <a:latin typeface="Times New Roman" panose="02020603050405020304" pitchFamily="18" charset="0"/>
                <a:cs typeface="Times New Roman" panose="02020603050405020304" pitchFamily="18" charset="0"/>
              </a:rPr>
              <a:t>The purpose of this project is to analyze real-world e-commerce sales data to uncover meaningful insights and use machine learning techniques to predict future outcomes such as sales trends, revenue, customer behavior, and delivery performance. In today’s rapidly evolving digital marketplace, e-commerce platforms generate vast amounts of data from customer purchases, payments, product categories, and logistics. However, this raw data is rarely used to its full potential. Through this project, the aim is to transform raw data into valuable business intelligence by applying data preprocessing, exploratory data analysis (EDA), visualization, and predictive modeling. </a:t>
            </a:r>
            <a:endParaRPr sz="2400" dirty="0">
              <a:latin typeface="Times New Roman"/>
              <a:cs typeface="Times New Roman"/>
            </a:endParaRPr>
          </a:p>
        </p:txBody>
      </p:sp>
      <p:sp>
        <p:nvSpPr>
          <p:cNvPr id="4" name="object 4"/>
          <p:cNvSpPr txBox="1"/>
          <p:nvPr/>
        </p:nvSpPr>
        <p:spPr>
          <a:xfrm>
            <a:off x="78739" y="72643"/>
            <a:ext cx="89535" cy="299720"/>
          </a:xfrm>
          <a:prstGeom prst="rect">
            <a:avLst/>
          </a:prstGeom>
        </p:spPr>
        <p:txBody>
          <a:bodyPr vert="horz" wrap="square" lIns="0" tIns="12700" rIns="0" bIns="0" rtlCol="0">
            <a:spAutoFit/>
          </a:bodyPr>
          <a:lstStyle/>
          <a:p>
            <a:pPr marL="12700">
              <a:lnSpc>
                <a:spcPct val="100000"/>
              </a:lnSpc>
              <a:spcBef>
                <a:spcPts val="100"/>
              </a:spcBef>
            </a:pPr>
            <a:r>
              <a:rPr sz="1800" spc="-50" dirty="0">
                <a:latin typeface="Arial MT"/>
                <a:cs typeface="Arial MT"/>
              </a:rPr>
              <a:t>.</a:t>
            </a:r>
            <a:endParaRPr sz="1800">
              <a:latin typeface="Arial MT"/>
              <a:cs typeface="Arial MT"/>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E1DBF2-8E9B-B5CB-CD3B-77256299D7E2}"/>
              </a:ext>
            </a:extLst>
          </p:cNvPr>
          <p:cNvSpPr>
            <a:spLocks noGrp="1"/>
          </p:cNvSpPr>
          <p:nvPr>
            <p:ph type="title"/>
          </p:nvPr>
        </p:nvSpPr>
        <p:spPr>
          <a:xfrm>
            <a:off x="1905000" y="654600"/>
            <a:ext cx="4841621" cy="872743"/>
          </a:xfrm>
        </p:spPr>
        <p:txBody>
          <a:bodyPr/>
          <a:lstStyle/>
          <a:p>
            <a:r>
              <a:rPr lang="en-IN" dirty="0"/>
              <a:t>2. Literature Review</a:t>
            </a:r>
          </a:p>
        </p:txBody>
      </p:sp>
      <p:sp>
        <p:nvSpPr>
          <p:cNvPr id="3" name="Content Placeholder 2">
            <a:extLst>
              <a:ext uri="{FF2B5EF4-FFF2-40B4-BE49-F238E27FC236}">
                <a16:creationId xmlns:a16="http://schemas.microsoft.com/office/drawing/2014/main" id="{D609A8C4-4EBE-CD01-32B2-BE69FCAB26EC}"/>
              </a:ext>
            </a:extLst>
          </p:cNvPr>
          <p:cNvSpPr>
            <a:spLocks noGrp="1"/>
          </p:cNvSpPr>
          <p:nvPr>
            <p:ph idx="1"/>
          </p:nvPr>
        </p:nvSpPr>
        <p:spPr>
          <a:xfrm>
            <a:off x="1905000" y="1639957"/>
            <a:ext cx="9599612" cy="369332"/>
          </a:xfrm>
        </p:spPr>
        <p:txBody>
          <a:bodyPr/>
          <a:lstStyle/>
          <a:p>
            <a:r>
              <a:rPr lang="en-IN" dirty="0"/>
              <a:t>Currently available systems for E-Commerce</a:t>
            </a:r>
          </a:p>
        </p:txBody>
      </p:sp>
      <p:sp>
        <p:nvSpPr>
          <p:cNvPr id="4" name="Slide Number Placeholder 3">
            <a:extLst>
              <a:ext uri="{FF2B5EF4-FFF2-40B4-BE49-F238E27FC236}">
                <a16:creationId xmlns:a16="http://schemas.microsoft.com/office/drawing/2014/main" id="{2B05DD90-3A03-1E63-4AD6-B6D9524845CA}"/>
              </a:ext>
            </a:extLst>
          </p:cNvPr>
          <p:cNvSpPr>
            <a:spLocks noGrp="1"/>
          </p:cNvSpPr>
          <p:nvPr>
            <p:ph type="sldNum" sz="quarter" idx="12"/>
          </p:nvPr>
        </p:nvSpPr>
        <p:spPr bwMode="gray">
          <a:xfrm>
            <a:off x="11222029" y="6338155"/>
            <a:ext cx="779767" cy="365125"/>
          </a:xfrm>
          <a:prstGeom prst="rect">
            <a:avLst/>
          </a:prstGeom>
        </p:spPr>
        <p:txBody>
          <a:bodyPr vert="horz" lIns="91440" tIns="45720" rIns="91440" bIns="45720" rtlCol="0" anchor="ctr"/>
          <a:lstStyle>
            <a:defPPr>
              <a:defRPr lang="en-US"/>
            </a:defPPr>
            <a:lvl1pPr marL="0" algn="r" defTabSz="457200" rtl="0" eaLnBrk="1" latinLnBrk="0" hangingPunct="1">
              <a:defRPr sz="2000" kern="1200">
                <a:solidFill>
                  <a:schemeClr val="bg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A575ECA5-96F4-415B-9B7B-F5BEE4B08E09}" type="slidenum">
              <a:rPr lang="en-IN" smtClean="0"/>
              <a:pPr/>
              <a:t>4</a:t>
            </a:fld>
            <a:endParaRPr lang="en-IN" dirty="0"/>
          </a:p>
        </p:txBody>
      </p:sp>
      <p:graphicFrame>
        <p:nvGraphicFramePr>
          <p:cNvPr id="5" name="Table 4">
            <a:extLst>
              <a:ext uri="{FF2B5EF4-FFF2-40B4-BE49-F238E27FC236}">
                <a16:creationId xmlns:a16="http://schemas.microsoft.com/office/drawing/2014/main" id="{4D486EC0-E04D-95E7-B43B-C60E6CC60E85}"/>
              </a:ext>
            </a:extLst>
          </p:cNvPr>
          <p:cNvGraphicFramePr>
            <a:graphicFrameLocks noGrp="1"/>
          </p:cNvGraphicFramePr>
          <p:nvPr>
            <p:extLst>
              <p:ext uri="{D42A27DB-BD31-4B8C-83A1-F6EECF244321}">
                <p14:modId xmlns:p14="http://schemas.microsoft.com/office/powerpoint/2010/main" val="2174873276"/>
              </p:ext>
            </p:extLst>
          </p:nvPr>
        </p:nvGraphicFramePr>
        <p:xfrm>
          <a:off x="1828801" y="2133600"/>
          <a:ext cx="8839201" cy="4173992"/>
        </p:xfrm>
        <a:graphic>
          <a:graphicData uri="http://schemas.openxmlformats.org/drawingml/2006/table">
            <a:tbl>
              <a:tblPr firstRow="1" bandRow="1">
                <a:tableStyleId>{5C22544A-7EE6-4342-B048-85BDC9FD1C3A}</a:tableStyleId>
              </a:tblPr>
              <a:tblGrid>
                <a:gridCol w="1143195">
                  <a:extLst>
                    <a:ext uri="{9D8B030D-6E8A-4147-A177-3AD203B41FA5}">
                      <a16:colId xmlns:a16="http://schemas.microsoft.com/office/drawing/2014/main" val="3061002685"/>
                    </a:ext>
                  </a:extLst>
                </a:gridCol>
                <a:gridCol w="2994133">
                  <a:extLst>
                    <a:ext uri="{9D8B030D-6E8A-4147-A177-3AD203B41FA5}">
                      <a16:colId xmlns:a16="http://schemas.microsoft.com/office/drawing/2014/main" val="3308928935"/>
                    </a:ext>
                  </a:extLst>
                </a:gridCol>
                <a:gridCol w="2510546">
                  <a:extLst>
                    <a:ext uri="{9D8B030D-6E8A-4147-A177-3AD203B41FA5}">
                      <a16:colId xmlns:a16="http://schemas.microsoft.com/office/drawing/2014/main" val="3184326738"/>
                    </a:ext>
                  </a:extLst>
                </a:gridCol>
                <a:gridCol w="2191327">
                  <a:extLst>
                    <a:ext uri="{9D8B030D-6E8A-4147-A177-3AD203B41FA5}">
                      <a16:colId xmlns:a16="http://schemas.microsoft.com/office/drawing/2014/main" val="3980447352"/>
                    </a:ext>
                  </a:extLst>
                </a:gridCol>
              </a:tblGrid>
              <a:tr h="760038">
                <a:tc>
                  <a:txBody>
                    <a:bodyPr/>
                    <a:lstStyle/>
                    <a:p>
                      <a:pPr algn="ctr"/>
                      <a:r>
                        <a:rPr lang="en-IN" dirty="0"/>
                        <a:t>Sr. No.</a:t>
                      </a:r>
                    </a:p>
                  </a:txBody>
                  <a:tcPr/>
                </a:tc>
                <a:tc>
                  <a:txBody>
                    <a:bodyPr/>
                    <a:lstStyle/>
                    <a:p>
                      <a:pPr algn="ctr"/>
                      <a:r>
                        <a:rPr lang="en-IN"/>
                        <a:t>Name of Solution/System</a:t>
                      </a:r>
                      <a:endParaRPr lang="en-IN" dirty="0"/>
                    </a:p>
                  </a:txBody>
                  <a:tcPr/>
                </a:tc>
                <a:tc>
                  <a:txBody>
                    <a:bodyPr/>
                    <a:lstStyle/>
                    <a:p>
                      <a:pPr algn="ctr"/>
                      <a:r>
                        <a:rPr lang="en-IN"/>
                        <a:t>Fatures</a:t>
                      </a:r>
                      <a:endParaRPr lang="en-IN" dirty="0"/>
                    </a:p>
                  </a:txBody>
                  <a:tcPr/>
                </a:tc>
                <a:tc>
                  <a:txBody>
                    <a:bodyPr/>
                    <a:lstStyle/>
                    <a:p>
                      <a:pPr algn="ctr"/>
                      <a:r>
                        <a:rPr lang="en-IN"/>
                        <a:t>Limitations/</a:t>
                      </a:r>
                    </a:p>
                    <a:p>
                      <a:pPr algn="ctr"/>
                      <a:r>
                        <a:rPr lang="en-IN"/>
                        <a:t>Drawbacks</a:t>
                      </a:r>
                      <a:endParaRPr lang="en-IN" dirty="0"/>
                    </a:p>
                  </a:txBody>
                  <a:tcPr/>
                </a:tc>
                <a:extLst>
                  <a:ext uri="{0D108BD9-81ED-4DB2-BD59-A6C34878D82A}">
                    <a16:rowId xmlns:a16="http://schemas.microsoft.com/office/drawing/2014/main" val="4291405766"/>
                  </a:ext>
                </a:extLst>
              </a:tr>
              <a:tr h="916362">
                <a:tc>
                  <a:txBody>
                    <a:bodyPr/>
                    <a:lstStyle/>
                    <a:p>
                      <a:pPr algn="ctr"/>
                      <a:r>
                        <a:rPr lang="en-IN"/>
                        <a:t>1</a:t>
                      </a:r>
                      <a:endParaRPr lang="en-IN" dirty="0"/>
                    </a:p>
                  </a:txBody>
                  <a:tcPr/>
                </a:tc>
                <a:tc>
                  <a:txBody>
                    <a:bodyPr/>
                    <a:lstStyle/>
                    <a:p>
                      <a:pPr algn="l"/>
                      <a:r>
                        <a:rPr lang="en-US" sz="1400" b="0" dirty="0"/>
                        <a:t>E-commerce Data Analysis and Machine Learning Prediction System</a:t>
                      </a:r>
                      <a:endParaRPr lang="en-IN" sz="1400" b="0" dirty="0"/>
                    </a:p>
                  </a:txBody>
                  <a:tcPr/>
                </a:tc>
                <a:tc>
                  <a:txBody>
                    <a:bodyPr/>
                    <a:lstStyle/>
                    <a:p>
                      <a:pPr algn="l"/>
                      <a:r>
                        <a:rPr lang="en-US" sz="1400" dirty="0"/>
                        <a:t> Provides detailed sales, customer, and product analytics.</a:t>
                      </a:r>
                      <a:endParaRPr lang="en-IN" sz="1400" b="0" dirty="0"/>
                    </a:p>
                  </a:txBody>
                  <a:tcPr/>
                </a:tc>
                <a:tc>
                  <a:txBody>
                    <a:bodyPr/>
                    <a:lstStyle/>
                    <a:p>
                      <a:pPr algn="l"/>
                      <a:r>
                        <a:rPr lang="en-US" sz="1400" dirty="0"/>
                        <a:t>Requires clean and well-structured data for accurate predictions</a:t>
                      </a:r>
                    </a:p>
                  </a:txBody>
                  <a:tcPr/>
                </a:tc>
                <a:extLst>
                  <a:ext uri="{0D108BD9-81ED-4DB2-BD59-A6C34878D82A}">
                    <a16:rowId xmlns:a16="http://schemas.microsoft.com/office/drawing/2014/main" val="2750208946"/>
                  </a:ext>
                </a:extLst>
              </a:tr>
              <a:tr h="1638585">
                <a:tc>
                  <a:txBody>
                    <a:bodyPr/>
                    <a:lstStyle/>
                    <a:p>
                      <a:pPr algn="ctr"/>
                      <a:endParaRPr lang="en-IN" dirty="0"/>
                    </a:p>
                    <a:p>
                      <a:pPr algn="ctr"/>
                      <a:endParaRPr lang="en-IN" dirty="0"/>
                    </a:p>
                    <a:p>
                      <a:pPr algn="ctr"/>
                      <a:r>
                        <a:rPr lang="en-IN" dirty="0"/>
                        <a:t>2</a:t>
                      </a:r>
                    </a:p>
                    <a:p>
                      <a:pPr algn="ctr"/>
                      <a:endParaRPr lang="en-IN" dirty="0"/>
                    </a:p>
                  </a:txBody>
                  <a:tcPr/>
                </a:tc>
                <a:tc>
                  <a:txBody>
                    <a:bodyPr/>
                    <a:lstStyle/>
                    <a:p>
                      <a:pPr>
                        <a:buNone/>
                      </a:pPr>
                      <a:r>
                        <a:rPr lang="en-US" sz="1400" dirty="0"/>
                        <a:t>Google Data Studio / Power BI Dashboard</a:t>
                      </a:r>
                      <a:endParaRPr lang="en-IN" sz="1400" dirty="0"/>
                    </a:p>
                  </a:txBody>
                  <a:tcPr anchor="ctr"/>
                </a:tc>
                <a:tc>
                  <a:txBody>
                    <a:bodyPr/>
                    <a:lstStyle/>
                    <a:p>
                      <a:pPr algn="ctr"/>
                      <a:endParaRPr lang="en-US" sz="1400" dirty="0"/>
                    </a:p>
                    <a:p>
                      <a:pPr algn="ctr"/>
                      <a:endParaRPr lang="en-US" sz="1400" dirty="0"/>
                    </a:p>
                    <a:p>
                      <a:pPr algn="l"/>
                      <a:r>
                        <a:rPr lang="en-US" sz="1400" dirty="0"/>
                        <a:t> Provides interactive visualizations and business intelligence dashboards.</a:t>
                      </a:r>
                    </a:p>
                  </a:txBody>
                  <a:tcPr/>
                </a:tc>
                <a:tc>
                  <a:txBody>
                    <a:bodyPr/>
                    <a:lstStyle/>
                    <a:p>
                      <a:pPr algn="l"/>
                      <a:r>
                        <a:rPr lang="en-US" sz="1400" dirty="0"/>
                        <a:t> </a:t>
                      </a:r>
                    </a:p>
                    <a:p>
                      <a:pPr algn="l"/>
                      <a:endParaRPr lang="en-US" sz="1400" dirty="0"/>
                    </a:p>
                    <a:p>
                      <a:pPr algn="l"/>
                      <a:r>
                        <a:rPr lang="en-IN" sz="1400" dirty="0"/>
                        <a:t>Limited advanced predictive capabilities</a:t>
                      </a:r>
                      <a:endParaRPr lang="en-US" sz="1400" dirty="0"/>
                    </a:p>
                  </a:txBody>
                  <a:tcPr/>
                </a:tc>
                <a:extLst>
                  <a:ext uri="{0D108BD9-81ED-4DB2-BD59-A6C34878D82A}">
                    <a16:rowId xmlns:a16="http://schemas.microsoft.com/office/drawing/2014/main" val="2850866531"/>
                  </a:ext>
                </a:extLst>
              </a:tr>
              <a:tr h="859007">
                <a:tc>
                  <a:txBody>
                    <a:bodyPr/>
                    <a:lstStyle/>
                    <a:p>
                      <a:pPr algn="ctr"/>
                      <a:r>
                        <a:rPr lang="en-IN"/>
                        <a:t>3</a:t>
                      </a:r>
                      <a:endParaRPr lang="en-IN" dirty="0"/>
                    </a:p>
                  </a:txBody>
                  <a:tcPr/>
                </a:tc>
                <a:tc>
                  <a:txBody>
                    <a:bodyPr/>
                    <a:lstStyle/>
                    <a:p>
                      <a:pPr>
                        <a:buNone/>
                      </a:pPr>
                      <a:r>
                        <a:rPr lang="en-US" sz="1400" dirty="0"/>
                        <a:t>Excel-based E-commerce Report System</a:t>
                      </a:r>
                      <a:endParaRPr lang="en-IN" sz="1400" dirty="0"/>
                    </a:p>
                  </a:txBody>
                  <a:tcPr anchor="ctr"/>
                </a:tc>
                <a:tc>
                  <a:txBody>
                    <a:bodyPr/>
                    <a:lstStyle/>
                    <a:p>
                      <a:pPr algn="ctr"/>
                      <a:r>
                        <a:rPr lang="en-US" sz="1400" dirty="0"/>
                        <a:t>Simple spreadsheet-based data analysis and reporting tool.</a:t>
                      </a:r>
                      <a:endParaRPr lang="en-US" sz="1400" b="0" dirty="0"/>
                    </a:p>
                  </a:txBody>
                  <a:tcPr/>
                </a:tc>
                <a:tc>
                  <a:txBody>
                    <a:bodyPr/>
                    <a:lstStyle/>
                    <a:p>
                      <a:pPr algn="l"/>
                      <a:r>
                        <a:rPr lang="en-US" sz="1400" dirty="0"/>
                        <a:t>Time-consuming for large datasets and complex analysis.</a:t>
                      </a:r>
                    </a:p>
                  </a:txBody>
                  <a:tcPr/>
                </a:tc>
                <a:extLst>
                  <a:ext uri="{0D108BD9-81ED-4DB2-BD59-A6C34878D82A}">
                    <a16:rowId xmlns:a16="http://schemas.microsoft.com/office/drawing/2014/main" val="684143792"/>
                  </a:ext>
                </a:extLst>
              </a:tr>
            </a:tbl>
          </a:graphicData>
        </a:graphic>
      </p:graphicFrame>
    </p:spTree>
    <p:extLst>
      <p:ext uri="{BB962C8B-B14F-4D97-AF65-F5344CB8AC3E}">
        <p14:creationId xmlns:p14="http://schemas.microsoft.com/office/powerpoint/2010/main" val="18856174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905000" y="270257"/>
            <a:ext cx="4841621" cy="872743"/>
          </a:xfrm>
          <a:prstGeom prst="rect">
            <a:avLst/>
          </a:prstGeom>
        </p:spPr>
        <p:txBody>
          <a:bodyPr vert="horz" wrap="square" lIns="0" tIns="231520" rIns="0" bIns="0" rtlCol="0">
            <a:spAutoFit/>
          </a:bodyPr>
          <a:lstStyle/>
          <a:p>
            <a:pPr marL="58419">
              <a:lnSpc>
                <a:spcPct val="100000"/>
              </a:lnSpc>
              <a:spcBef>
                <a:spcPts val="95"/>
              </a:spcBef>
            </a:pPr>
            <a:r>
              <a:rPr dirty="0"/>
              <a:t>3.</a:t>
            </a:r>
            <a:r>
              <a:rPr spc="-90" dirty="0"/>
              <a:t> </a:t>
            </a:r>
            <a:r>
              <a:rPr dirty="0"/>
              <a:t>Problem</a:t>
            </a:r>
            <a:r>
              <a:rPr spc="-75" dirty="0"/>
              <a:t> </a:t>
            </a:r>
            <a:r>
              <a:rPr spc="-10" dirty="0"/>
              <a:t>Statement</a:t>
            </a:r>
          </a:p>
        </p:txBody>
      </p:sp>
      <p:sp>
        <p:nvSpPr>
          <p:cNvPr id="4" name="object 4"/>
          <p:cNvSpPr txBox="1">
            <a:spLocks noGrp="1"/>
          </p:cNvSpPr>
          <p:nvPr>
            <p:ph type="sldNum" sz="quarter" idx="7"/>
          </p:nvPr>
        </p:nvSpPr>
        <p:spPr>
          <a:prstGeom prst="rect">
            <a:avLst/>
          </a:prstGeom>
        </p:spPr>
        <p:txBody>
          <a:bodyPr vert="horz" wrap="square" lIns="0" tIns="14604" rIns="0" bIns="0" rtlCol="0">
            <a:spAutoFit/>
          </a:bodyPr>
          <a:lstStyle/>
          <a:p>
            <a:pPr marL="179705">
              <a:lnSpc>
                <a:spcPct val="100000"/>
              </a:lnSpc>
              <a:spcBef>
                <a:spcPts val="114"/>
              </a:spcBef>
            </a:pPr>
            <a:fld id="{81D60167-4931-47E6-BA6A-407CBD079E47}" type="slidenum">
              <a:rPr spc="-50" dirty="0"/>
              <a:t>5</a:t>
            </a:fld>
            <a:endParaRPr spc="-50" dirty="0"/>
          </a:p>
        </p:txBody>
      </p:sp>
      <p:sp>
        <p:nvSpPr>
          <p:cNvPr id="3" name="object 3"/>
          <p:cNvSpPr txBox="1"/>
          <p:nvPr/>
        </p:nvSpPr>
        <p:spPr>
          <a:xfrm>
            <a:off x="1600200" y="1447800"/>
            <a:ext cx="9144000" cy="4860305"/>
          </a:xfrm>
          <a:prstGeom prst="rect">
            <a:avLst/>
          </a:prstGeom>
        </p:spPr>
        <p:txBody>
          <a:bodyPr vert="horz" wrap="square" lIns="0" tIns="12700" rIns="0" bIns="0" rtlCol="0">
            <a:spAutoFit/>
          </a:bodyPr>
          <a:lstStyle/>
          <a:p>
            <a:pPr marL="457200" indent="-267335" algn="just">
              <a:spcBef>
                <a:spcPts val="600"/>
              </a:spcBef>
              <a:spcAft>
                <a:spcPts val="200"/>
              </a:spcAft>
              <a:tabLst>
                <a:tab pos="724535" algn="l"/>
              </a:tabLst>
            </a:pPr>
            <a:r>
              <a:rPr lang="en-US" sz="2000" dirty="0"/>
              <a:t>    </a:t>
            </a:r>
            <a:r>
              <a:rPr lang="en-US" sz="2100" dirty="0"/>
              <a:t>Although e-commerce platforms collect large volumes of data, most businesses do not fully utilize it for analytical or predictive purposes. Traditional sales tracking systems only focus on recording transactions and generating static reports, without offering deeper insights into customer preferences, product demand, seasonal trends, or future revenue predictions. Many small and medium-sized businesses still rely on manual spreadsheets, which are time-consuming, error-prone, and provide no predictive intelligence. There is no automated system to analyze customer buying behavior, predict sales, detect delivery delays, or recommend inventory stocking levels. Additionally, without proper visualization tools, identifying important trends such as the most profitable products, high-return items, or cities with maximum sales becomes difficult. As a result, companies often make business decisions based on assumptions rather than data-driven insights, leading to losses, poor customer satisfaction, and inefficient use of resources.</a:t>
            </a:r>
            <a:endParaRPr sz="2100" dirty="0">
              <a:latin typeface="Times New Roman"/>
              <a:cs typeface="Times New Roman"/>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2478" rIns="0" bIns="0" rtlCol="0">
            <a:spAutoFit/>
          </a:bodyPr>
          <a:lstStyle/>
          <a:p>
            <a:pPr marL="149860">
              <a:lnSpc>
                <a:spcPct val="100000"/>
              </a:lnSpc>
              <a:spcBef>
                <a:spcPts val="95"/>
              </a:spcBef>
            </a:pPr>
            <a:r>
              <a:rPr dirty="0"/>
              <a:t>4.</a:t>
            </a:r>
            <a:r>
              <a:rPr spc="-90" dirty="0"/>
              <a:t> </a:t>
            </a:r>
            <a:r>
              <a:rPr dirty="0"/>
              <a:t>Proposed</a:t>
            </a:r>
            <a:r>
              <a:rPr spc="-80" dirty="0"/>
              <a:t> </a:t>
            </a:r>
            <a:r>
              <a:rPr spc="-10" dirty="0"/>
              <a:t>Solution</a:t>
            </a:r>
          </a:p>
        </p:txBody>
      </p:sp>
      <p:sp>
        <p:nvSpPr>
          <p:cNvPr id="4" name="object 4"/>
          <p:cNvSpPr txBox="1">
            <a:spLocks noGrp="1"/>
          </p:cNvSpPr>
          <p:nvPr>
            <p:ph type="sldNum" sz="quarter" idx="7"/>
          </p:nvPr>
        </p:nvSpPr>
        <p:spPr>
          <a:prstGeom prst="rect">
            <a:avLst/>
          </a:prstGeom>
        </p:spPr>
        <p:txBody>
          <a:bodyPr vert="horz" wrap="square" lIns="0" tIns="14604" rIns="0" bIns="0" rtlCol="0">
            <a:spAutoFit/>
          </a:bodyPr>
          <a:lstStyle/>
          <a:p>
            <a:pPr marL="179705">
              <a:lnSpc>
                <a:spcPct val="100000"/>
              </a:lnSpc>
              <a:spcBef>
                <a:spcPts val="114"/>
              </a:spcBef>
            </a:pPr>
            <a:fld id="{81D60167-4931-47E6-BA6A-407CBD079E47}" type="slidenum">
              <a:rPr spc="-50" dirty="0"/>
              <a:t>6</a:t>
            </a:fld>
            <a:endParaRPr spc="-50" dirty="0"/>
          </a:p>
        </p:txBody>
      </p:sp>
      <p:sp>
        <p:nvSpPr>
          <p:cNvPr id="3" name="object 3"/>
          <p:cNvSpPr txBox="1"/>
          <p:nvPr/>
        </p:nvSpPr>
        <p:spPr>
          <a:xfrm>
            <a:off x="1295401" y="1295400"/>
            <a:ext cx="9600184" cy="4937249"/>
          </a:xfrm>
          <a:prstGeom prst="rect">
            <a:avLst/>
          </a:prstGeom>
        </p:spPr>
        <p:txBody>
          <a:bodyPr vert="horz" wrap="square" lIns="0" tIns="12700" rIns="0" bIns="0" rtlCol="0">
            <a:spAutoFit/>
          </a:bodyPr>
          <a:lstStyle/>
          <a:p>
            <a:pPr marL="724535" indent="-267335" algn="just">
              <a:spcBef>
                <a:spcPts val="1465"/>
              </a:spcBef>
              <a:tabLst>
                <a:tab pos="724535" algn="l"/>
              </a:tabLst>
            </a:pPr>
            <a:r>
              <a:rPr lang="en-US" dirty="0"/>
              <a:t>    </a:t>
            </a:r>
            <a:r>
              <a:rPr lang="en-US" sz="2000" dirty="0"/>
              <a:t>To overcome these challenges, this project proposes a complete data-driven E-commerce Sales Analysis and Prediction System using Python, data analytics, and machine learning. The system will collect historical e commerce data, either from real-world sources like the </a:t>
            </a:r>
            <a:r>
              <a:rPr lang="en-US" sz="2000" dirty="0" err="1"/>
              <a:t>Olist</a:t>
            </a:r>
            <a:r>
              <a:rPr lang="en-US" sz="2000" dirty="0"/>
              <a:t> dataset (Kaggle) or through synthetic datasets. The data will go through preprocessing steps such as cleaning, handling missing values, formatting dates, and generating new useful features like monthly sales, revenue per customer, discount impact, and delivery time. Exploratory Data Analysis (EDA) will be performed to identify patterns in sales, customer demographics, product performance, and revenue distribution. Interactive visualizations will be created using Matplotlib or </a:t>
            </a:r>
            <a:r>
              <a:rPr lang="en-US" sz="2000" dirty="0" err="1"/>
              <a:t>Plotly</a:t>
            </a:r>
            <a:r>
              <a:rPr lang="en-US" sz="2000" dirty="0"/>
              <a:t> to display trends clearly. For the predictive part, machine learning models such as Linear Regression, Random Forest will be used to predict sales or order amounts based on past data. The system can also predict late deliveries, customer churn, or return probability. This solution will help businesses make smarter, data backed decisions and gain a competitive advantage in the e-commerce industry.</a:t>
            </a:r>
            <a:r>
              <a:rPr lang="en-US" sz="2000" b="0" dirty="0">
                <a:effectLst/>
                <a:latin typeface="Times New Roman" panose="02020603050405020304" pitchFamily="18" charset="0"/>
                <a:ea typeface="Times New Roman" panose="02020603050405020304" pitchFamily="18" charset="0"/>
              </a:rPr>
              <a:t>.</a:t>
            </a:r>
            <a:endParaRPr sz="2000" dirty="0">
              <a:latin typeface="Times New Roman"/>
              <a:cs typeface="Times New Roman"/>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txBox="1">
            <a:spLocks noGrp="1"/>
          </p:cNvSpPr>
          <p:nvPr>
            <p:ph type="sldNum" sz="quarter" idx="7"/>
          </p:nvPr>
        </p:nvSpPr>
        <p:spPr>
          <a:prstGeom prst="rect">
            <a:avLst/>
          </a:prstGeom>
        </p:spPr>
        <p:txBody>
          <a:bodyPr vert="horz" wrap="square" lIns="0" tIns="14604" rIns="0" bIns="0" rtlCol="0">
            <a:spAutoFit/>
          </a:bodyPr>
          <a:lstStyle/>
          <a:p>
            <a:pPr marL="179705">
              <a:lnSpc>
                <a:spcPct val="100000"/>
              </a:lnSpc>
              <a:spcBef>
                <a:spcPts val="114"/>
              </a:spcBef>
            </a:pPr>
            <a:fld id="{81D60167-4931-47E6-BA6A-407CBD079E47}" type="slidenum">
              <a:rPr spc="-50" dirty="0"/>
              <a:t>7</a:t>
            </a:fld>
            <a:endParaRPr spc="-50" dirty="0"/>
          </a:p>
        </p:txBody>
      </p:sp>
      <p:sp>
        <p:nvSpPr>
          <p:cNvPr id="3" name="object 3"/>
          <p:cNvSpPr txBox="1">
            <a:spLocks noGrp="1"/>
          </p:cNvSpPr>
          <p:nvPr>
            <p:ph type="title"/>
          </p:nvPr>
        </p:nvSpPr>
        <p:spPr>
          <a:xfrm>
            <a:off x="1748408" y="117857"/>
            <a:ext cx="4841621" cy="872743"/>
          </a:xfrm>
          <a:prstGeom prst="rect">
            <a:avLst/>
          </a:prstGeom>
        </p:spPr>
        <p:txBody>
          <a:bodyPr vert="horz" wrap="square" lIns="0" tIns="198374" rIns="0" bIns="0" rtlCol="0">
            <a:spAutoFit/>
          </a:bodyPr>
          <a:lstStyle/>
          <a:p>
            <a:pPr marL="258445">
              <a:lnSpc>
                <a:spcPct val="100000"/>
              </a:lnSpc>
              <a:spcBef>
                <a:spcPts val="100"/>
              </a:spcBef>
            </a:pPr>
            <a:r>
              <a:rPr sz="3600" spc="-310" dirty="0">
                <a:solidFill>
                  <a:srgbClr val="000000"/>
                </a:solidFill>
                <a:latin typeface="Verdana"/>
                <a:cs typeface="Verdana"/>
              </a:rPr>
              <a:t>5.</a:t>
            </a:r>
            <a:r>
              <a:rPr sz="3600" spc="-265" dirty="0">
                <a:solidFill>
                  <a:srgbClr val="000000"/>
                </a:solidFill>
                <a:latin typeface="Verdana"/>
                <a:cs typeface="Verdana"/>
              </a:rPr>
              <a:t> </a:t>
            </a:r>
            <a:r>
              <a:rPr sz="3600" spc="-40" dirty="0">
                <a:solidFill>
                  <a:srgbClr val="000000"/>
                </a:solidFill>
                <a:latin typeface="Verdana"/>
                <a:cs typeface="Verdana"/>
              </a:rPr>
              <a:t>Objective:</a:t>
            </a:r>
            <a:endParaRPr sz="3600" dirty="0">
              <a:latin typeface="Verdana"/>
              <a:cs typeface="Verdana"/>
            </a:endParaRPr>
          </a:p>
        </p:txBody>
      </p:sp>
      <p:sp>
        <p:nvSpPr>
          <p:cNvPr id="5" name="Rectangle 1">
            <a:extLst>
              <a:ext uri="{FF2B5EF4-FFF2-40B4-BE49-F238E27FC236}">
                <a16:creationId xmlns:a16="http://schemas.microsoft.com/office/drawing/2014/main" id="{DCF3BC8B-36B4-24D8-6118-361495358B1A}"/>
              </a:ext>
            </a:extLst>
          </p:cNvPr>
          <p:cNvSpPr>
            <a:spLocks noChangeArrowheads="1"/>
          </p:cNvSpPr>
          <p:nvPr/>
        </p:nvSpPr>
        <p:spPr bwMode="auto">
          <a:xfrm>
            <a:off x="0" y="413266"/>
            <a:ext cx="358140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To analyze</a:t>
            </a:r>
          </a:p>
        </p:txBody>
      </p:sp>
      <p:sp>
        <p:nvSpPr>
          <p:cNvPr id="6" name="Rectangle 2">
            <a:extLst>
              <a:ext uri="{FF2B5EF4-FFF2-40B4-BE49-F238E27FC236}">
                <a16:creationId xmlns:a16="http://schemas.microsoft.com/office/drawing/2014/main" id="{71A305B9-4804-B27B-331F-8445D35F4594}"/>
              </a:ext>
            </a:extLst>
          </p:cNvPr>
          <p:cNvSpPr>
            <a:spLocks noChangeArrowheads="1"/>
          </p:cNvSpPr>
          <p:nvPr/>
        </p:nvSpPr>
        <p:spPr bwMode="auto">
          <a:xfrm>
            <a:off x="1987931" y="1143000"/>
            <a:ext cx="9601200" cy="48320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200" b="0" i="0" u="none" strike="noStrike" cap="none" normalizeH="0" baseline="0" dirty="0">
                <a:ln>
                  <a:noFill/>
                </a:ln>
                <a:solidFill>
                  <a:schemeClr val="tx1"/>
                </a:solidFill>
                <a:effectLst/>
                <a:latin typeface="Arial" panose="020B0604020202020204" pitchFamily="34" charset="0"/>
              </a:rPr>
              <a:t> To analyze real-world e-commerce data and extract valuable insights         regarding sales, customers, and product performance.</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200" b="0" i="0" u="none" strike="noStrike" cap="none" normalizeH="0" baseline="0" dirty="0">
                <a:ln>
                  <a:noFill/>
                </a:ln>
                <a:solidFill>
                  <a:schemeClr val="tx1"/>
                </a:solidFill>
                <a:effectLst/>
                <a:latin typeface="Arial" panose="020B0604020202020204" pitchFamily="34" charset="0"/>
              </a:rPr>
              <a:t> To perform data preprocessing, cleaning, and feature engineering for improving data quality and model performance.</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200" b="0" i="0" u="none" strike="noStrike" cap="none" normalizeH="0" baseline="0" dirty="0">
                <a:ln>
                  <a:noFill/>
                </a:ln>
                <a:solidFill>
                  <a:schemeClr val="tx1"/>
                </a:solidFill>
                <a:effectLst/>
                <a:latin typeface="Arial" panose="020B0604020202020204" pitchFamily="34" charset="0"/>
              </a:rPr>
              <a:t> To visualize business metrics such as monthly revenue, top-selling categories, and customer purchase behavior using Python visualization libraries.</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200" b="0" i="0" u="none" strike="noStrike" cap="none" normalizeH="0" baseline="0" dirty="0">
                <a:ln>
                  <a:noFill/>
                </a:ln>
                <a:solidFill>
                  <a:schemeClr val="tx1"/>
                </a:solidFill>
                <a:effectLst/>
                <a:latin typeface="Arial" panose="020B0604020202020204" pitchFamily="34" charset="0"/>
              </a:rPr>
              <a:t> To build and train machine learning models capable of predicting future sales, order amounts, and customer demand trends.</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200" b="0" i="0" u="none" strike="noStrike" cap="none" normalizeH="0" baseline="0" dirty="0">
                <a:ln>
                  <a:noFill/>
                </a:ln>
                <a:solidFill>
                  <a:schemeClr val="tx1"/>
                </a:solidFill>
                <a:effectLst/>
                <a:latin typeface="Arial" panose="020B0604020202020204" pitchFamily="34" charset="0"/>
              </a:rPr>
              <a:t> To help businesses in decision-making related to pricing, marketing, and inventory management through data-driven insights.</a:t>
            </a:r>
          </a:p>
          <a:p>
            <a:pPr marL="0" marR="0" lvl="0" indent="0" algn="just" defTabSz="914400" rtl="0" eaLnBrk="0" fontAlgn="base" latinLnBrk="0" hangingPunct="0">
              <a:lnSpc>
                <a:spcPct val="100000"/>
              </a:lnSpc>
              <a:spcBef>
                <a:spcPct val="0"/>
              </a:spcBef>
              <a:spcAft>
                <a:spcPct val="0"/>
              </a:spcAft>
              <a:buClrTx/>
              <a:buSzTx/>
              <a:buFontTx/>
              <a:buChar char="•"/>
              <a:tabLst/>
            </a:pPr>
            <a:r>
              <a:rPr lang="en-US" sz="2200" dirty="0"/>
              <a:t> To develop a simple and interactive </a:t>
            </a:r>
            <a:r>
              <a:rPr lang="en-US" sz="2200" dirty="0" err="1"/>
              <a:t>Streamlit</a:t>
            </a:r>
            <a:r>
              <a:rPr lang="en-US" sz="2200" dirty="0"/>
              <a:t>-based web interface for uploading data, viewing analysis, training models, and displaying predictions.</a:t>
            </a:r>
            <a:endParaRPr kumimoji="0" lang="en-US" altLang="en-US" sz="2200" b="0" i="0" u="none" strike="noStrike" cap="none" normalizeH="0" baseline="0" dirty="0">
              <a:ln>
                <a:noFill/>
              </a:ln>
              <a:solidFill>
                <a:schemeClr val="tx1"/>
              </a:solidFill>
              <a:effectLst/>
              <a:latin typeface="Arial" panose="020B0604020202020204" pitchFamily="34"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748408" y="152400"/>
            <a:ext cx="4841621" cy="872743"/>
          </a:xfrm>
          <a:prstGeom prst="rect">
            <a:avLst/>
          </a:prstGeom>
        </p:spPr>
        <p:txBody>
          <a:bodyPr vert="horz" wrap="square" lIns="0" tIns="12065" rIns="0" bIns="0" rtlCol="0">
            <a:spAutoFit/>
          </a:bodyPr>
          <a:lstStyle/>
          <a:p>
            <a:pPr marL="103505">
              <a:lnSpc>
                <a:spcPct val="100000"/>
              </a:lnSpc>
              <a:spcBef>
                <a:spcPts val="95"/>
              </a:spcBef>
            </a:pPr>
            <a:r>
              <a:rPr dirty="0"/>
              <a:t>6.</a:t>
            </a:r>
            <a:r>
              <a:rPr spc="-75" dirty="0"/>
              <a:t> </a:t>
            </a:r>
            <a:r>
              <a:rPr spc="-20" dirty="0"/>
              <a:t>Theoretical</a:t>
            </a:r>
            <a:r>
              <a:rPr spc="-220" dirty="0"/>
              <a:t> </a:t>
            </a:r>
            <a:r>
              <a:rPr spc="-10" dirty="0"/>
              <a:t>Analysis</a:t>
            </a:r>
          </a:p>
        </p:txBody>
      </p:sp>
      <p:sp>
        <p:nvSpPr>
          <p:cNvPr id="4" name="object 4"/>
          <p:cNvSpPr txBox="1">
            <a:spLocks noGrp="1"/>
          </p:cNvSpPr>
          <p:nvPr>
            <p:ph type="sldNum" sz="quarter" idx="7"/>
          </p:nvPr>
        </p:nvSpPr>
        <p:spPr>
          <a:prstGeom prst="rect">
            <a:avLst/>
          </a:prstGeom>
        </p:spPr>
        <p:txBody>
          <a:bodyPr vert="horz" wrap="square" lIns="0" tIns="14604" rIns="0" bIns="0" rtlCol="0">
            <a:spAutoFit/>
          </a:bodyPr>
          <a:lstStyle/>
          <a:p>
            <a:pPr marL="179705">
              <a:lnSpc>
                <a:spcPct val="100000"/>
              </a:lnSpc>
              <a:spcBef>
                <a:spcPts val="114"/>
              </a:spcBef>
            </a:pPr>
            <a:fld id="{81D60167-4931-47E6-BA6A-407CBD079E47}" type="slidenum">
              <a:rPr spc="-50" dirty="0"/>
              <a:t>8</a:t>
            </a:fld>
            <a:endParaRPr spc="-50" dirty="0"/>
          </a:p>
        </p:txBody>
      </p:sp>
      <p:sp>
        <p:nvSpPr>
          <p:cNvPr id="5" name="AutoShape 2">
            <a:extLst>
              <a:ext uri="{FF2B5EF4-FFF2-40B4-BE49-F238E27FC236}">
                <a16:creationId xmlns:a16="http://schemas.microsoft.com/office/drawing/2014/main" id="{D130A9DE-4D23-CF98-5B3B-42E20E40FFF8}"/>
              </a:ext>
            </a:extLst>
          </p:cNvPr>
          <p:cNvSpPr>
            <a:spLocks noChangeAspect="1" noChangeArrowheads="1"/>
          </p:cNvSpPr>
          <p:nvPr/>
        </p:nvSpPr>
        <p:spPr bwMode="auto">
          <a:xfrm>
            <a:off x="5791200" y="3962400"/>
            <a:ext cx="3352800" cy="3352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6" name="AutoShape 4">
            <a:extLst>
              <a:ext uri="{FF2B5EF4-FFF2-40B4-BE49-F238E27FC236}">
                <a16:creationId xmlns:a16="http://schemas.microsoft.com/office/drawing/2014/main" id="{EF509F23-D3C1-9B63-B5CB-B389DA1277AE}"/>
              </a:ext>
            </a:extLst>
          </p:cNvPr>
          <p:cNvSpPr>
            <a:spLocks noChangeAspect="1" noChangeArrowheads="1"/>
          </p:cNvSpPr>
          <p:nvPr/>
        </p:nvSpPr>
        <p:spPr bwMode="auto">
          <a:xfrm>
            <a:off x="5943600" y="37338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9" name="TextBox 8">
            <a:extLst>
              <a:ext uri="{FF2B5EF4-FFF2-40B4-BE49-F238E27FC236}">
                <a16:creationId xmlns:a16="http://schemas.microsoft.com/office/drawing/2014/main" id="{5716F927-715A-9C40-5717-86D65F67AE16}"/>
              </a:ext>
            </a:extLst>
          </p:cNvPr>
          <p:cNvSpPr txBox="1"/>
          <p:nvPr/>
        </p:nvSpPr>
        <p:spPr>
          <a:xfrm>
            <a:off x="1748408" y="6248401"/>
            <a:ext cx="7010400" cy="400110"/>
          </a:xfrm>
          <a:prstGeom prst="rect">
            <a:avLst/>
          </a:prstGeom>
          <a:noFill/>
        </p:spPr>
        <p:txBody>
          <a:bodyPr wrap="square" rtlCol="0">
            <a:spAutoFit/>
          </a:bodyPr>
          <a:lstStyle/>
          <a:p>
            <a:r>
              <a:rPr lang="en-IN" dirty="0"/>
              <a:t>                      </a:t>
            </a:r>
            <a:r>
              <a:rPr lang="en-IN" sz="2000" dirty="0"/>
              <a:t>Fig.  Block Diagram of  System</a:t>
            </a:r>
            <a:r>
              <a:rPr lang="en-IN" sz="1800" b="1" dirty="0"/>
              <a:t> E-Commerce</a:t>
            </a:r>
            <a:endParaRPr lang="en-IN" b="1" dirty="0"/>
          </a:p>
        </p:txBody>
      </p:sp>
      <p:pic>
        <p:nvPicPr>
          <p:cNvPr id="11" name="Picture 10">
            <a:extLst>
              <a:ext uri="{FF2B5EF4-FFF2-40B4-BE49-F238E27FC236}">
                <a16:creationId xmlns:a16="http://schemas.microsoft.com/office/drawing/2014/main" id="{46859CBE-B030-37DD-FF10-7072F5CF3514}"/>
              </a:ext>
            </a:extLst>
          </p:cNvPr>
          <p:cNvPicPr>
            <a:picLocks noChangeAspect="1"/>
          </p:cNvPicPr>
          <p:nvPr/>
        </p:nvPicPr>
        <p:blipFill>
          <a:blip r:embed="rId3"/>
          <a:stretch>
            <a:fillRect/>
          </a:stretch>
        </p:blipFill>
        <p:spPr>
          <a:xfrm>
            <a:off x="2895600" y="1025143"/>
            <a:ext cx="6019800" cy="4994658"/>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85217" rIns="0" bIns="0" rtlCol="0">
            <a:spAutoFit/>
          </a:bodyPr>
          <a:lstStyle/>
          <a:p>
            <a:pPr marL="140335">
              <a:lnSpc>
                <a:spcPct val="100000"/>
              </a:lnSpc>
              <a:spcBef>
                <a:spcPts val="95"/>
              </a:spcBef>
            </a:pPr>
            <a:r>
              <a:rPr dirty="0"/>
              <a:t>6.</a:t>
            </a:r>
            <a:r>
              <a:rPr spc="-75" dirty="0"/>
              <a:t> </a:t>
            </a:r>
            <a:r>
              <a:rPr spc="-20" dirty="0"/>
              <a:t>Theoretical</a:t>
            </a:r>
            <a:r>
              <a:rPr spc="-220" dirty="0"/>
              <a:t> </a:t>
            </a:r>
            <a:r>
              <a:rPr spc="-10" dirty="0"/>
              <a:t>Analysis</a:t>
            </a:r>
          </a:p>
        </p:txBody>
      </p:sp>
      <p:sp>
        <p:nvSpPr>
          <p:cNvPr id="4" name="object 4"/>
          <p:cNvSpPr txBox="1">
            <a:spLocks noGrp="1"/>
          </p:cNvSpPr>
          <p:nvPr>
            <p:ph type="sldNum" sz="quarter" idx="7"/>
          </p:nvPr>
        </p:nvSpPr>
        <p:spPr>
          <a:prstGeom prst="rect">
            <a:avLst/>
          </a:prstGeom>
        </p:spPr>
        <p:txBody>
          <a:bodyPr vert="horz" wrap="square" lIns="0" tIns="14604" rIns="0" bIns="0" rtlCol="0">
            <a:spAutoFit/>
          </a:bodyPr>
          <a:lstStyle/>
          <a:p>
            <a:pPr marL="38100">
              <a:lnSpc>
                <a:spcPct val="100000"/>
              </a:lnSpc>
              <a:spcBef>
                <a:spcPts val="114"/>
              </a:spcBef>
            </a:pPr>
            <a:fld id="{81D60167-4931-47E6-BA6A-407CBD079E47}" type="slidenum">
              <a:rPr spc="-25" dirty="0"/>
              <a:t>9</a:t>
            </a:fld>
            <a:endParaRPr spc="-25" dirty="0"/>
          </a:p>
        </p:txBody>
      </p:sp>
      <p:sp>
        <p:nvSpPr>
          <p:cNvPr id="3" name="object 3"/>
          <p:cNvSpPr txBox="1"/>
          <p:nvPr/>
        </p:nvSpPr>
        <p:spPr>
          <a:xfrm>
            <a:off x="1876425" y="1149386"/>
            <a:ext cx="9244965" cy="3310522"/>
          </a:xfrm>
          <a:prstGeom prst="rect">
            <a:avLst/>
          </a:prstGeom>
        </p:spPr>
        <p:txBody>
          <a:bodyPr vert="horz" wrap="square" lIns="0" tIns="184785" rIns="0" bIns="0" rtlCol="0">
            <a:spAutoFit/>
          </a:bodyPr>
          <a:lstStyle/>
          <a:p>
            <a:pPr marL="12700">
              <a:lnSpc>
                <a:spcPct val="100000"/>
              </a:lnSpc>
              <a:spcBef>
                <a:spcPts val="1455"/>
              </a:spcBef>
            </a:pPr>
            <a:r>
              <a:rPr sz="2400" b="1" dirty="0">
                <a:solidFill>
                  <a:srgbClr val="404040"/>
                </a:solidFill>
                <a:latin typeface="Times New Roman"/>
                <a:cs typeface="Times New Roman"/>
              </a:rPr>
              <a:t>6.2</a:t>
            </a:r>
            <a:r>
              <a:rPr sz="2400" b="1" spc="-50" dirty="0">
                <a:solidFill>
                  <a:srgbClr val="404040"/>
                </a:solidFill>
                <a:latin typeface="Times New Roman"/>
                <a:cs typeface="Times New Roman"/>
              </a:rPr>
              <a:t> </a:t>
            </a:r>
            <a:r>
              <a:rPr sz="2400" b="1" dirty="0">
                <a:solidFill>
                  <a:srgbClr val="404040"/>
                </a:solidFill>
                <a:latin typeface="Times New Roman"/>
                <a:cs typeface="Times New Roman"/>
              </a:rPr>
              <a:t>Hardware</a:t>
            </a:r>
            <a:r>
              <a:rPr sz="2400" b="1" spc="-40" dirty="0">
                <a:solidFill>
                  <a:srgbClr val="404040"/>
                </a:solidFill>
                <a:latin typeface="Times New Roman"/>
                <a:cs typeface="Times New Roman"/>
              </a:rPr>
              <a:t> </a:t>
            </a:r>
            <a:r>
              <a:rPr sz="2400" b="1" spc="-10" dirty="0">
                <a:solidFill>
                  <a:srgbClr val="404040"/>
                </a:solidFill>
                <a:latin typeface="Times New Roman"/>
                <a:cs typeface="Times New Roman"/>
              </a:rPr>
              <a:t>Requirements</a:t>
            </a:r>
            <a:endParaRPr lang="en-IN" sz="2400" b="1" spc="-10" dirty="0">
              <a:solidFill>
                <a:srgbClr val="404040"/>
              </a:solidFill>
              <a:latin typeface="Times New Roman"/>
              <a:cs typeface="Times New Roman"/>
            </a:endParaRPr>
          </a:p>
          <a:p>
            <a:pPr marL="678180" algn="just">
              <a:spcBef>
                <a:spcPts val="695"/>
              </a:spcBef>
            </a:pPr>
            <a:r>
              <a:rPr lang="en-US" sz="2400" b="1" dirty="0">
                <a:effectLst/>
                <a:latin typeface="Times New Roman" panose="02020603050405020304" pitchFamily="18" charset="0"/>
                <a:ea typeface="Times New Roman" panose="02020603050405020304" pitchFamily="18" charset="0"/>
              </a:rPr>
              <a:t>Server</a:t>
            </a:r>
            <a:r>
              <a:rPr lang="en-US" sz="2400" b="1" spc="-40" dirty="0">
                <a:effectLst/>
                <a:latin typeface="Times New Roman" panose="02020603050405020304" pitchFamily="18" charset="0"/>
                <a:ea typeface="Times New Roman" panose="02020603050405020304" pitchFamily="18" charset="0"/>
              </a:rPr>
              <a:t> </a:t>
            </a:r>
            <a:r>
              <a:rPr lang="en-US" sz="2400" b="1" dirty="0">
                <a:effectLst/>
                <a:latin typeface="Times New Roman" panose="02020603050405020304" pitchFamily="18" charset="0"/>
                <a:ea typeface="Times New Roman" panose="02020603050405020304" pitchFamily="18" charset="0"/>
              </a:rPr>
              <a:t>Hardware:</a:t>
            </a:r>
            <a:r>
              <a:rPr lang="en-US" sz="2400" b="1" spc="-25" dirty="0">
                <a:effectLst/>
                <a:latin typeface="Times New Roman" panose="02020603050405020304" pitchFamily="18" charset="0"/>
                <a:ea typeface="Times New Roman" panose="02020603050405020304" pitchFamily="18" charset="0"/>
              </a:rPr>
              <a:t> </a:t>
            </a:r>
            <a:r>
              <a:rPr lang="en-US" sz="2400" b="1" spc="-50" dirty="0">
                <a:effectLst/>
                <a:latin typeface="Times New Roman" panose="02020603050405020304" pitchFamily="18" charset="0"/>
                <a:ea typeface="Times New Roman" panose="02020603050405020304" pitchFamily="18" charset="0"/>
              </a:rPr>
              <a:t>-</a:t>
            </a:r>
          </a:p>
          <a:p>
            <a:pPr marL="678180" algn="just">
              <a:spcBef>
                <a:spcPts val="695"/>
              </a:spcBef>
            </a:pPr>
            <a:r>
              <a:rPr lang="en-IN" sz="2400" dirty="0"/>
              <a:t>• Processor: Intel i3/i5/i7 or </a:t>
            </a:r>
            <a:r>
              <a:rPr lang="en-IN" sz="2400" dirty="0" err="1"/>
              <a:t>Ryzen</a:t>
            </a:r>
            <a:r>
              <a:rPr lang="en-IN" sz="2400" dirty="0"/>
              <a:t> 3/5</a:t>
            </a:r>
          </a:p>
          <a:p>
            <a:pPr marL="678180" algn="just">
              <a:spcBef>
                <a:spcPts val="695"/>
              </a:spcBef>
            </a:pPr>
            <a:r>
              <a:rPr lang="en-IN" sz="2400" dirty="0"/>
              <a:t> • RAM: 8GB </a:t>
            </a:r>
          </a:p>
          <a:p>
            <a:pPr marL="678180" algn="just">
              <a:spcBef>
                <a:spcPts val="695"/>
              </a:spcBef>
            </a:pPr>
            <a:r>
              <a:rPr lang="en-IN" sz="2400" dirty="0"/>
              <a:t>• Storage: 128 GB HDD or more </a:t>
            </a:r>
          </a:p>
          <a:p>
            <a:pPr marL="678180" algn="just">
              <a:spcBef>
                <a:spcPts val="695"/>
              </a:spcBef>
            </a:pPr>
            <a:r>
              <a:rPr lang="en-IN" sz="2400" dirty="0"/>
              <a:t>• Network: 10/100 Mbps Internet Connection </a:t>
            </a:r>
          </a:p>
          <a:p>
            <a:pPr marL="678180" algn="just">
              <a:spcBef>
                <a:spcPts val="695"/>
              </a:spcBef>
            </a:pPr>
            <a:r>
              <a:rPr lang="en-IN" sz="2400" dirty="0"/>
              <a:t>• OS: Linux-Based or Windows Server </a:t>
            </a:r>
            <a:endParaRPr lang="en-IN" sz="2400" dirty="0">
              <a:effectLst/>
              <a:latin typeface="Times New Roman" panose="02020603050405020304" pitchFamily="18" charset="0"/>
              <a:ea typeface="Times New Roman" panose="02020603050405020304" pitchFamily="18"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876425" y="609600"/>
            <a:ext cx="4465320" cy="513715"/>
          </a:xfrm>
          <a:prstGeom prst="rect">
            <a:avLst/>
          </a:prstGeom>
        </p:spPr>
        <p:txBody>
          <a:bodyPr vert="horz" wrap="square" lIns="0" tIns="13335" rIns="0" bIns="0" rtlCol="0">
            <a:spAutoFit/>
          </a:bodyPr>
          <a:lstStyle/>
          <a:p>
            <a:pPr marL="12700">
              <a:lnSpc>
                <a:spcPct val="100000"/>
              </a:lnSpc>
              <a:spcBef>
                <a:spcPts val="105"/>
              </a:spcBef>
            </a:pPr>
            <a:r>
              <a:rPr sz="3200" dirty="0">
                <a:solidFill>
                  <a:srgbClr val="404040"/>
                </a:solidFill>
              </a:rPr>
              <a:t>6.3</a:t>
            </a:r>
            <a:r>
              <a:rPr sz="3200" spc="-5" dirty="0">
                <a:solidFill>
                  <a:srgbClr val="404040"/>
                </a:solidFill>
              </a:rPr>
              <a:t> </a:t>
            </a:r>
            <a:r>
              <a:rPr sz="3200" dirty="0">
                <a:solidFill>
                  <a:srgbClr val="404040"/>
                </a:solidFill>
              </a:rPr>
              <a:t>Software</a:t>
            </a:r>
            <a:r>
              <a:rPr sz="3200" spc="-15" dirty="0">
                <a:solidFill>
                  <a:srgbClr val="404040"/>
                </a:solidFill>
              </a:rPr>
              <a:t> </a:t>
            </a:r>
            <a:r>
              <a:rPr sz="3200" spc="-10" dirty="0">
                <a:solidFill>
                  <a:srgbClr val="404040"/>
                </a:solidFill>
              </a:rPr>
              <a:t>Requirements</a:t>
            </a:r>
            <a:endParaRPr sz="3200" dirty="0"/>
          </a:p>
        </p:txBody>
      </p:sp>
      <p:sp>
        <p:nvSpPr>
          <p:cNvPr id="4" name="object 4"/>
          <p:cNvSpPr txBox="1">
            <a:spLocks noGrp="1"/>
          </p:cNvSpPr>
          <p:nvPr>
            <p:ph type="sldNum" sz="quarter" idx="7"/>
          </p:nvPr>
        </p:nvSpPr>
        <p:spPr>
          <a:prstGeom prst="rect">
            <a:avLst/>
          </a:prstGeom>
        </p:spPr>
        <p:txBody>
          <a:bodyPr vert="horz" wrap="square" lIns="0" tIns="14604" rIns="0" bIns="0" rtlCol="0">
            <a:spAutoFit/>
          </a:bodyPr>
          <a:lstStyle/>
          <a:p>
            <a:pPr marL="38100">
              <a:lnSpc>
                <a:spcPct val="100000"/>
              </a:lnSpc>
              <a:spcBef>
                <a:spcPts val="114"/>
              </a:spcBef>
            </a:pPr>
            <a:fld id="{81D60167-4931-47E6-BA6A-407CBD079E47}" type="slidenum">
              <a:rPr spc="-25" dirty="0"/>
              <a:t>10</a:t>
            </a:fld>
            <a:endParaRPr spc="-25" dirty="0"/>
          </a:p>
        </p:txBody>
      </p:sp>
      <p:sp>
        <p:nvSpPr>
          <p:cNvPr id="3" name="object 3"/>
          <p:cNvSpPr txBox="1"/>
          <p:nvPr/>
        </p:nvSpPr>
        <p:spPr>
          <a:xfrm>
            <a:off x="1876425" y="1066800"/>
            <a:ext cx="9230995" cy="4357090"/>
          </a:xfrm>
          <a:prstGeom prst="rect">
            <a:avLst/>
          </a:prstGeom>
        </p:spPr>
        <p:txBody>
          <a:bodyPr vert="horz" wrap="square" lIns="0" tIns="140970" rIns="0" bIns="0" rtlCol="0">
            <a:spAutoFit/>
          </a:bodyPr>
          <a:lstStyle/>
          <a:p>
            <a:pPr marL="676910" algn="just"/>
            <a:r>
              <a:rPr lang="en-US" sz="2000" b="1" spc="-10" dirty="0">
                <a:effectLst/>
                <a:latin typeface="Times New Roman" panose="02020603050405020304" pitchFamily="18" charset="0"/>
                <a:ea typeface="Times New Roman" panose="02020603050405020304" pitchFamily="18" charset="0"/>
              </a:rPr>
              <a:t> </a:t>
            </a:r>
            <a:endParaRPr lang="en-IN" sz="2400" b="1" dirty="0">
              <a:effectLst/>
              <a:latin typeface="Times New Roman" panose="02020603050405020304" pitchFamily="18" charset="0"/>
              <a:ea typeface="Times New Roman" panose="02020603050405020304" pitchFamily="18" charset="0"/>
            </a:endParaRPr>
          </a:p>
          <a:p>
            <a:pPr marL="676910" algn="just"/>
            <a:r>
              <a:rPr lang="en-IN" sz="2000" dirty="0"/>
              <a:t> Programming Language: Python </a:t>
            </a:r>
          </a:p>
          <a:p>
            <a:pPr marL="676910" algn="just">
              <a:lnSpc>
                <a:spcPct val="200000"/>
              </a:lnSpc>
            </a:pPr>
            <a:r>
              <a:rPr lang="en-IN" sz="2000" dirty="0"/>
              <a:t>• Libraries: Pandas, NumPy, Matplotlib, Seaborn Scikit-Learn </a:t>
            </a:r>
          </a:p>
          <a:p>
            <a:pPr marL="676910" algn="just">
              <a:lnSpc>
                <a:spcPct val="200000"/>
              </a:lnSpc>
            </a:pPr>
            <a:r>
              <a:rPr lang="en-IN" sz="2000" dirty="0"/>
              <a:t>• ML frame works: Scikit-Learn / </a:t>
            </a:r>
            <a:r>
              <a:rPr lang="en-IN" sz="2000" dirty="0" err="1"/>
              <a:t>XGBoost</a:t>
            </a:r>
            <a:r>
              <a:rPr lang="en-IN" sz="2000" dirty="0"/>
              <a:t> </a:t>
            </a:r>
          </a:p>
          <a:p>
            <a:pPr marL="676910" algn="just">
              <a:lnSpc>
                <a:spcPct val="200000"/>
              </a:lnSpc>
            </a:pPr>
            <a:r>
              <a:rPr lang="en-IN" sz="2000" dirty="0"/>
              <a:t> • Visualization:  Matplotlib  Power BI </a:t>
            </a:r>
          </a:p>
          <a:p>
            <a:pPr marL="676910" algn="just">
              <a:lnSpc>
                <a:spcPct val="200000"/>
              </a:lnSpc>
            </a:pPr>
            <a:r>
              <a:rPr lang="en-IN" sz="2000" dirty="0"/>
              <a:t> • IDE / Tools: </a:t>
            </a:r>
            <a:r>
              <a:rPr lang="en-IN" sz="2000" dirty="0" err="1"/>
              <a:t>Jupyter</a:t>
            </a:r>
            <a:r>
              <a:rPr lang="en-IN" sz="2000" dirty="0"/>
              <a:t> Notebook / VS code</a:t>
            </a:r>
          </a:p>
          <a:p>
            <a:pPr marL="676910" algn="just">
              <a:lnSpc>
                <a:spcPct val="200000"/>
              </a:lnSpc>
            </a:pPr>
            <a:r>
              <a:rPr lang="en-IN" sz="2000" dirty="0"/>
              <a:t> • Dataset: E-commerce Dataset (Kaggle) </a:t>
            </a:r>
          </a:p>
          <a:p>
            <a:pPr marL="676910" algn="just">
              <a:lnSpc>
                <a:spcPct val="200000"/>
              </a:lnSpc>
            </a:pPr>
            <a:r>
              <a:rPr lang="en-IN" sz="2000" dirty="0"/>
              <a:t>• Version Control:  Git with GitHub </a:t>
            </a:r>
            <a:endParaRPr sz="1900" dirty="0">
              <a:latin typeface="Times New Roman"/>
              <a:cs typeface="Times New Roman"/>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371600" y="228600"/>
            <a:ext cx="5410200" cy="739227"/>
          </a:xfrm>
          <a:prstGeom prst="rect">
            <a:avLst/>
          </a:prstGeom>
        </p:spPr>
        <p:txBody>
          <a:bodyPr vert="horz" wrap="square" lIns="0" tIns="122478" rIns="0" bIns="0" rtlCol="0">
            <a:spAutoFit/>
          </a:bodyPr>
          <a:lstStyle/>
          <a:p>
            <a:pPr marL="368935">
              <a:lnSpc>
                <a:spcPct val="100000"/>
              </a:lnSpc>
              <a:spcBef>
                <a:spcPts val="95"/>
              </a:spcBef>
            </a:pPr>
            <a:r>
              <a:rPr lang="en-IN" spc="-10" dirty="0"/>
              <a:t>7. </a:t>
            </a:r>
            <a:r>
              <a:rPr spc="-10" dirty="0"/>
              <a:t>Applications</a:t>
            </a:r>
          </a:p>
        </p:txBody>
      </p:sp>
      <p:sp>
        <p:nvSpPr>
          <p:cNvPr id="4" name="object 4"/>
          <p:cNvSpPr txBox="1">
            <a:spLocks noGrp="1"/>
          </p:cNvSpPr>
          <p:nvPr>
            <p:ph type="sldNum" sz="quarter" idx="7"/>
          </p:nvPr>
        </p:nvSpPr>
        <p:spPr>
          <a:prstGeom prst="rect">
            <a:avLst/>
          </a:prstGeom>
        </p:spPr>
        <p:txBody>
          <a:bodyPr vert="horz" wrap="square" lIns="0" tIns="14604" rIns="0" bIns="0" rtlCol="0">
            <a:spAutoFit/>
          </a:bodyPr>
          <a:lstStyle/>
          <a:p>
            <a:pPr marL="38100">
              <a:lnSpc>
                <a:spcPct val="100000"/>
              </a:lnSpc>
              <a:spcBef>
                <a:spcPts val="114"/>
              </a:spcBef>
            </a:pPr>
            <a:fld id="{81D60167-4931-47E6-BA6A-407CBD079E47}" type="slidenum">
              <a:rPr spc="-25" dirty="0"/>
              <a:t>11</a:t>
            </a:fld>
            <a:endParaRPr spc="-25" dirty="0"/>
          </a:p>
        </p:txBody>
      </p:sp>
      <p:sp>
        <p:nvSpPr>
          <p:cNvPr id="3" name="object 3"/>
          <p:cNvSpPr txBox="1">
            <a:spLocks noGrp="1"/>
          </p:cNvSpPr>
          <p:nvPr>
            <p:ph type="body" idx="1"/>
          </p:nvPr>
        </p:nvSpPr>
        <p:spPr>
          <a:xfrm>
            <a:off x="1828800" y="1346805"/>
            <a:ext cx="10058400" cy="4139595"/>
          </a:xfrm>
          <a:prstGeom prst="rect">
            <a:avLst/>
          </a:prstGeom>
        </p:spPr>
        <p:txBody>
          <a:bodyPr vert="horz" wrap="square" lIns="0" tIns="12700" rIns="0" bIns="0" rtlCol="0">
            <a:spAutoFit/>
          </a:bodyPr>
          <a:lstStyle/>
          <a:p>
            <a:pPr marL="12700" marR="189865">
              <a:lnSpc>
                <a:spcPct val="100000"/>
              </a:lnSpc>
              <a:spcBef>
                <a:spcPts val="100"/>
              </a:spcBef>
              <a:buClr>
                <a:srgbClr val="A42F0F"/>
              </a:buClr>
              <a:tabLst>
                <a:tab pos="355600" algn="l"/>
              </a:tabLst>
            </a:pPr>
            <a:r>
              <a:rPr lang="en-US" dirty="0"/>
              <a:t>• </a:t>
            </a:r>
            <a:r>
              <a:rPr lang="en-US" b="1" dirty="0"/>
              <a:t>Sales Forecasting and Revenue Prediction</a:t>
            </a:r>
          </a:p>
          <a:p>
            <a:pPr marL="12700" marR="189865">
              <a:lnSpc>
                <a:spcPct val="100000"/>
              </a:lnSpc>
              <a:spcBef>
                <a:spcPts val="100"/>
              </a:spcBef>
              <a:buClr>
                <a:srgbClr val="A42F0F"/>
              </a:buClr>
              <a:tabLst>
                <a:tab pos="355600" algn="l"/>
              </a:tabLst>
            </a:pPr>
            <a:r>
              <a:rPr lang="en-US" dirty="0"/>
              <a:t> Businesses can predict future sales and revenue using historical data trends. This helps in planning budgets, marketing strategies, and business expansion. </a:t>
            </a:r>
          </a:p>
          <a:p>
            <a:pPr marL="12700" marR="189865">
              <a:lnSpc>
                <a:spcPct val="100000"/>
              </a:lnSpc>
              <a:spcBef>
                <a:spcPts val="100"/>
              </a:spcBef>
              <a:buClr>
                <a:srgbClr val="A42F0F"/>
              </a:buClr>
              <a:tabLst>
                <a:tab pos="355600" algn="l"/>
              </a:tabLst>
            </a:pPr>
            <a:r>
              <a:rPr lang="en-US" dirty="0"/>
              <a:t>• </a:t>
            </a:r>
            <a:r>
              <a:rPr lang="en-US" b="1" dirty="0"/>
              <a:t>Inventory and Stock Management </a:t>
            </a:r>
          </a:p>
          <a:p>
            <a:pPr marL="12700" marR="189865" algn="l">
              <a:lnSpc>
                <a:spcPct val="100000"/>
              </a:lnSpc>
              <a:spcBef>
                <a:spcPts val="100"/>
              </a:spcBef>
              <a:buClr>
                <a:srgbClr val="A42F0F"/>
              </a:buClr>
              <a:tabLst>
                <a:tab pos="355600" algn="l"/>
              </a:tabLst>
            </a:pPr>
            <a:r>
              <a:rPr lang="en-US" dirty="0"/>
              <a:t>. By predicting product demand, businesses can maintain the right amount of stock, preventing       overstocking or stockouts, reducing storage costs, and improving supply-chain efficiency</a:t>
            </a:r>
          </a:p>
          <a:p>
            <a:pPr marL="12700" marR="189865">
              <a:lnSpc>
                <a:spcPct val="100000"/>
              </a:lnSpc>
              <a:spcBef>
                <a:spcPts val="100"/>
              </a:spcBef>
              <a:buClr>
                <a:srgbClr val="A42F0F"/>
              </a:buClr>
              <a:tabLst>
                <a:tab pos="355600" algn="l"/>
              </a:tabLst>
            </a:pPr>
            <a:r>
              <a:rPr lang="en-US" dirty="0"/>
              <a:t>• </a:t>
            </a:r>
            <a:r>
              <a:rPr lang="en-US" b="1" dirty="0"/>
              <a:t>Customer Behavior and Personalization </a:t>
            </a:r>
          </a:p>
          <a:p>
            <a:pPr marL="12700" marR="189865">
              <a:lnSpc>
                <a:spcPct val="100000"/>
              </a:lnSpc>
              <a:spcBef>
                <a:spcPts val="100"/>
              </a:spcBef>
              <a:buClr>
                <a:srgbClr val="A42F0F"/>
              </a:buClr>
              <a:tabLst>
                <a:tab pos="355600" algn="l"/>
              </a:tabLst>
            </a:pPr>
            <a:r>
              <a:rPr lang="en-US" dirty="0"/>
              <a:t>The system helps in analyzing customer preferences, buying frequency, and spending patterns. This allows companies to personalize recommendations and improve customer experience.</a:t>
            </a:r>
            <a:endParaRPr spc="-1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9725F5-7C73-2C45-B68F-C21C98CC9660}"/>
              </a:ext>
            </a:extLst>
          </p:cNvPr>
          <p:cNvSpPr>
            <a:spLocks noGrp="1"/>
          </p:cNvSpPr>
          <p:nvPr>
            <p:ph type="title"/>
          </p:nvPr>
        </p:nvSpPr>
        <p:spPr/>
        <p:txBody>
          <a:bodyPr/>
          <a:lstStyle/>
          <a:p>
            <a:endParaRPr lang="en-IN" dirty="0"/>
          </a:p>
        </p:txBody>
      </p:sp>
      <p:sp>
        <p:nvSpPr>
          <p:cNvPr id="3" name="Text Placeholder 2">
            <a:extLst>
              <a:ext uri="{FF2B5EF4-FFF2-40B4-BE49-F238E27FC236}">
                <a16:creationId xmlns:a16="http://schemas.microsoft.com/office/drawing/2014/main" id="{D38A9B87-4B05-AD96-DAF4-F257DF879F28}"/>
              </a:ext>
            </a:extLst>
          </p:cNvPr>
          <p:cNvSpPr>
            <a:spLocks noGrp="1"/>
          </p:cNvSpPr>
          <p:nvPr>
            <p:ph type="body" idx="1"/>
          </p:nvPr>
        </p:nvSpPr>
        <p:spPr>
          <a:xfrm>
            <a:off x="1717294" y="1571701"/>
            <a:ext cx="9605010" cy="4431983"/>
          </a:xfrm>
        </p:spPr>
        <p:txBody>
          <a:bodyPr/>
          <a:lstStyle/>
          <a:p>
            <a:r>
              <a:rPr lang="en-US" b="1" dirty="0"/>
              <a:t>Delivery and Logistics Performance </a:t>
            </a:r>
          </a:p>
          <a:p>
            <a:r>
              <a:rPr lang="en-US" dirty="0"/>
              <a:t>Monitoring Delivery time and performance can be tracked and predicted. This helps identify delays, improve courier selection, and enhance customer satisfaction. </a:t>
            </a:r>
          </a:p>
          <a:p>
            <a:r>
              <a:rPr lang="en-US" dirty="0"/>
              <a:t>• </a:t>
            </a:r>
            <a:r>
              <a:rPr lang="en-US" b="1" dirty="0"/>
              <a:t>Pricing and Discount Strategy Optimization</a:t>
            </a:r>
          </a:p>
          <a:p>
            <a:r>
              <a:rPr lang="en-US" dirty="0"/>
              <a:t> By studying the relationship between discounts and sales, businesses can determine the best discount rates that increase sales without reducing profit margins. </a:t>
            </a:r>
          </a:p>
          <a:p>
            <a:r>
              <a:rPr lang="en-US" dirty="0"/>
              <a:t>• </a:t>
            </a:r>
            <a:r>
              <a:rPr lang="en-US" b="1" dirty="0"/>
              <a:t>Return and Refund Analysis</a:t>
            </a:r>
          </a:p>
          <a:p>
            <a:r>
              <a:rPr lang="en-US" dirty="0"/>
              <a:t> The system can detect which products or categories have higher return rates and identify the reasons behind them. This helps improve product quality and reduce return losses</a:t>
            </a:r>
            <a:endParaRPr lang="en-IN" dirty="0"/>
          </a:p>
        </p:txBody>
      </p:sp>
    </p:spTree>
    <p:extLst>
      <p:ext uri="{BB962C8B-B14F-4D97-AF65-F5344CB8AC3E}">
        <p14:creationId xmlns:p14="http://schemas.microsoft.com/office/powerpoint/2010/main" val="250921552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249808" rIns="0" bIns="0" rtlCol="0">
            <a:spAutoFit/>
          </a:bodyPr>
          <a:lstStyle/>
          <a:p>
            <a:pPr marL="195580">
              <a:lnSpc>
                <a:spcPct val="100000"/>
              </a:lnSpc>
              <a:spcBef>
                <a:spcPts val="95"/>
              </a:spcBef>
            </a:pPr>
            <a:r>
              <a:rPr spc="-10" dirty="0"/>
              <a:t>REFERENCES</a:t>
            </a:r>
          </a:p>
        </p:txBody>
      </p:sp>
      <p:sp>
        <p:nvSpPr>
          <p:cNvPr id="4" name="object 4"/>
          <p:cNvSpPr txBox="1">
            <a:spLocks noGrp="1"/>
          </p:cNvSpPr>
          <p:nvPr>
            <p:ph type="sldNum" sz="quarter" idx="7"/>
          </p:nvPr>
        </p:nvSpPr>
        <p:spPr>
          <a:prstGeom prst="rect">
            <a:avLst/>
          </a:prstGeom>
        </p:spPr>
        <p:txBody>
          <a:bodyPr vert="horz" wrap="square" lIns="0" tIns="14604" rIns="0" bIns="0" rtlCol="0">
            <a:spAutoFit/>
          </a:bodyPr>
          <a:lstStyle/>
          <a:p>
            <a:pPr marL="38100">
              <a:lnSpc>
                <a:spcPct val="100000"/>
              </a:lnSpc>
              <a:spcBef>
                <a:spcPts val="114"/>
              </a:spcBef>
            </a:pPr>
            <a:fld id="{81D60167-4931-47E6-BA6A-407CBD079E47}" type="slidenum">
              <a:rPr spc="-25" dirty="0"/>
              <a:t>13</a:t>
            </a:fld>
            <a:endParaRPr spc="-25" dirty="0"/>
          </a:p>
        </p:txBody>
      </p:sp>
      <p:sp>
        <p:nvSpPr>
          <p:cNvPr id="6" name="TextBox 5">
            <a:extLst>
              <a:ext uri="{FF2B5EF4-FFF2-40B4-BE49-F238E27FC236}">
                <a16:creationId xmlns:a16="http://schemas.microsoft.com/office/drawing/2014/main" id="{C754F557-F4D6-4FE0-FBB2-AC482EF0F891}"/>
              </a:ext>
            </a:extLst>
          </p:cNvPr>
          <p:cNvSpPr txBox="1"/>
          <p:nvPr/>
        </p:nvSpPr>
        <p:spPr>
          <a:xfrm>
            <a:off x="1748408" y="1600200"/>
            <a:ext cx="9067800" cy="4305730"/>
          </a:xfrm>
          <a:prstGeom prst="rect">
            <a:avLst/>
          </a:prstGeom>
          <a:noFill/>
        </p:spPr>
        <p:txBody>
          <a:bodyPr wrap="square" rtlCol="0">
            <a:spAutoFit/>
          </a:bodyPr>
          <a:lstStyle/>
          <a:p>
            <a:pPr>
              <a:lnSpc>
                <a:spcPct val="200000"/>
              </a:lnSpc>
            </a:pPr>
            <a:r>
              <a:rPr lang="en-IN" b="1" dirty="0"/>
              <a:t>[</a:t>
            </a:r>
            <a:r>
              <a:rPr lang="en-IN" sz="2000" b="1" dirty="0"/>
              <a:t>1] Kaggle </a:t>
            </a:r>
            <a:r>
              <a:rPr lang="en-IN" sz="2000" dirty="0"/>
              <a:t>– Brazilian E-commerce Public Dataset by </a:t>
            </a:r>
            <a:r>
              <a:rPr lang="en-IN" sz="2000" dirty="0" err="1"/>
              <a:t>Olist</a:t>
            </a:r>
            <a:r>
              <a:rPr lang="en-IN" sz="2000" dirty="0"/>
              <a:t> (used for real-world sales, customers, and delivery data).</a:t>
            </a:r>
          </a:p>
          <a:p>
            <a:pPr>
              <a:lnSpc>
                <a:spcPct val="200000"/>
              </a:lnSpc>
            </a:pPr>
            <a:r>
              <a:rPr lang="en-IN" sz="2000" dirty="0"/>
              <a:t> </a:t>
            </a:r>
            <a:r>
              <a:rPr lang="en-IN" sz="2000" b="1" dirty="0"/>
              <a:t>[2] Aurélien </a:t>
            </a:r>
            <a:r>
              <a:rPr lang="en-IN" sz="2000" b="1" dirty="0" err="1"/>
              <a:t>Géron</a:t>
            </a:r>
            <a:r>
              <a:rPr lang="en-IN" sz="2000" b="1" dirty="0"/>
              <a:t> </a:t>
            </a:r>
            <a:r>
              <a:rPr lang="en-IN" sz="2000" dirty="0"/>
              <a:t>– Hands-On Machine Learning with Scikit-Learn, </a:t>
            </a:r>
            <a:r>
              <a:rPr lang="en-IN" sz="2000" dirty="0" err="1"/>
              <a:t>Keras</a:t>
            </a:r>
            <a:r>
              <a:rPr lang="en-IN" sz="2000" dirty="0"/>
              <a:t> &amp; TensorFlow (for ML concepts and implementation)</a:t>
            </a:r>
          </a:p>
          <a:p>
            <a:pPr>
              <a:lnSpc>
                <a:spcPct val="200000"/>
              </a:lnSpc>
            </a:pPr>
            <a:r>
              <a:rPr lang="en-IN" sz="2000" b="1" dirty="0"/>
              <a:t> [3] Choudhary, S., &amp; Shukla, S. (2020). </a:t>
            </a:r>
            <a:r>
              <a:rPr lang="en-IN" sz="2000" dirty="0"/>
              <a:t>“Sales Forecasting for E-commerce Using Machine Learning Techniques” — International Journal of Scientific Research in Computer Science and Engineering (IJSRCSE).</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txBox="1">
            <a:spLocks noGrp="1"/>
          </p:cNvSpPr>
          <p:nvPr>
            <p:ph type="sldNum" sz="quarter" idx="7"/>
          </p:nvPr>
        </p:nvSpPr>
        <p:spPr>
          <a:prstGeom prst="rect">
            <a:avLst/>
          </a:prstGeom>
        </p:spPr>
        <p:txBody>
          <a:bodyPr vert="horz" wrap="square" lIns="0" tIns="14604" rIns="0" bIns="0" rtlCol="0">
            <a:spAutoFit/>
          </a:bodyPr>
          <a:lstStyle/>
          <a:p>
            <a:pPr marL="38100">
              <a:lnSpc>
                <a:spcPct val="100000"/>
              </a:lnSpc>
              <a:spcBef>
                <a:spcPts val="114"/>
              </a:spcBef>
            </a:pPr>
            <a:fld id="{81D60167-4931-47E6-BA6A-407CBD079E47}" type="slidenum">
              <a:rPr spc="-25" dirty="0"/>
              <a:t>14</a:t>
            </a:fld>
            <a:endParaRPr spc="-25" dirty="0"/>
          </a:p>
        </p:txBody>
      </p:sp>
      <p:sp>
        <p:nvSpPr>
          <p:cNvPr id="6" name="Title 5">
            <a:extLst>
              <a:ext uri="{FF2B5EF4-FFF2-40B4-BE49-F238E27FC236}">
                <a16:creationId xmlns:a16="http://schemas.microsoft.com/office/drawing/2014/main" id="{42220069-4FAA-9CC8-B144-B482B03A0111}"/>
              </a:ext>
            </a:extLst>
          </p:cNvPr>
          <p:cNvSpPr>
            <a:spLocks noGrp="1"/>
          </p:cNvSpPr>
          <p:nvPr>
            <p:ph type="ctrTitle"/>
          </p:nvPr>
        </p:nvSpPr>
        <p:spPr>
          <a:xfrm>
            <a:off x="1295400" y="1447801"/>
            <a:ext cx="8991600" cy="867995"/>
          </a:xfrm>
        </p:spPr>
        <p:txBody>
          <a:bodyPr/>
          <a:lstStyle/>
          <a:p>
            <a:pPr marL="342900" marR="772795" lvl="0" indent="-342900">
              <a:lnSpc>
                <a:spcPct val="150000"/>
              </a:lnSpc>
              <a:spcBef>
                <a:spcPts val="800"/>
              </a:spcBef>
              <a:tabLst>
                <a:tab pos="960120" algn="l"/>
              </a:tabLst>
            </a:pPr>
            <a:r>
              <a:rPr lang="en-US" sz="2000" dirty="0"/>
              <a:t>[</a:t>
            </a:r>
            <a:r>
              <a:rPr lang="en-US" sz="2000" b="1" dirty="0"/>
              <a:t>4] Tsai, C. F., &amp; Hung, C. S. (2019). </a:t>
            </a:r>
            <a:r>
              <a:rPr lang="en-US" sz="2000" dirty="0"/>
              <a:t>“Customer Purchase Behavior Prediction in E-commerce using Data Mining Techniques”</a:t>
            </a:r>
            <a:endParaRPr lang="en-IN" sz="2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447800" y="1219200"/>
            <a:ext cx="7551420" cy="1011174"/>
          </a:xfrm>
          <a:prstGeom prst="rect">
            <a:avLst/>
          </a:prstGeom>
        </p:spPr>
        <p:txBody>
          <a:bodyPr vert="horz" wrap="square" lIns="0" tIns="13335" rIns="0" bIns="0" rtlCol="0">
            <a:spAutoFit/>
          </a:bodyPr>
          <a:lstStyle/>
          <a:p>
            <a:pPr marL="12700">
              <a:lnSpc>
                <a:spcPct val="100000"/>
              </a:lnSpc>
              <a:spcBef>
                <a:spcPts val="105"/>
              </a:spcBef>
            </a:pPr>
            <a:r>
              <a:rPr sz="3200" dirty="0">
                <a:solidFill>
                  <a:srgbClr val="404040"/>
                </a:solidFill>
                <a:latin typeface="Times New Roman"/>
                <a:cs typeface="Times New Roman"/>
              </a:rPr>
              <a:t>Github</a:t>
            </a:r>
            <a:r>
              <a:rPr sz="3200" spc="-20" dirty="0">
                <a:solidFill>
                  <a:srgbClr val="404040"/>
                </a:solidFill>
                <a:latin typeface="Times New Roman"/>
                <a:cs typeface="Times New Roman"/>
              </a:rPr>
              <a:t> </a:t>
            </a:r>
            <a:r>
              <a:rPr sz="3200" spc="-10" dirty="0">
                <a:solidFill>
                  <a:srgbClr val="404040"/>
                </a:solidFill>
                <a:latin typeface="Times New Roman"/>
                <a:cs typeface="Times New Roman"/>
              </a:rPr>
              <a:t>link:-</a:t>
            </a:r>
            <a:endParaRPr lang="en-US" sz="3200" spc="-10" dirty="0">
              <a:solidFill>
                <a:srgbClr val="404040"/>
              </a:solidFill>
              <a:latin typeface="Times New Roman"/>
              <a:cs typeface="Times New Roman"/>
            </a:endParaRPr>
          </a:p>
          <a:p>
            <a:pPr marL="12700">
              <a:lnSpc>
                <a:spcPct val="100000"/>
              </a:lnSpc>
              <a:spcBef>
                <a:spcPts val="105"/>
              </a:spcBef>
            </a:pPr>
            <a:r>
              <a:rPr lang="en-IN" sz="3200" dirty="0"/>
              <a:t>https://github.com/hariiom08/Major-1.git</a:t>
            </a:r>
            <a:endParaRPr sz="3200" dirty="0">
              <a:latin typeface="Times New Roman"/>
              <a:cs typeface="Times New Roman"/>
            </a:endParaRPr>
          </a:p>
        </p:txBody>
      </p:sp>
      <p:sp>
        <p:nvSpPr>
          <p:cNvPr id="3" name="object 3"/>
          <p:cNvSpPr txBox="1">
            <a:spLocks noGrp="1"/>
          </p:cNvSpPr>
          <p:nvPr>
            <p:ph type="sldNum" sz="quarter" idx="7"/>
          </p:nvPr>
        </p:nvSpPr>
        <p:spPr>
          <a:prstGeom prst="rect">
            <a:avLst/>
          </a:prstGeom>
        </p:spPr>
        <p:txBody>
          <a:bodyPr vert="horz" wrap="square" lIns="0" tIns="14604" rIns="0" bIns="0" rtlCol="0">
            <a:spAutoFit/>
          </a:bodyPr>
          <a:lstStyle/>
          <a:p>
            <a:pPr marL="38100">
              <a:lnSpc>
                <a:spcPct val="100000"/>
              </a:lnSpc>
              <a:spcBef>
                <a:spcPts val="114"/>
              </a:spcBef>
            </a:pPr>
            <a:fld id="{81D60167-4931-47E6-BA6A-407CBD079E47}" type="slidenum">
              <a:rPr spc="-25" dirty="0"/>
              <a:t>15</a:t>
            </a:fld>
            <a:endParaRPr spc="-25"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4700015" y="2747264"/>
            <a:ext cx="3498850" cy="2012950"/>
            <a:chOff x="4700015" y="2747264"/>
            <a:chExt cx="3498850" cy="2012950"/>
          </a:xfrm>
        </p:grpSpPr>
        <p:pic>
          <p:nvPicPr>
            <p:cNvPr id="3" name="object 3"/>
            <p:cNvPicPr/>
            <p:nvPr/>
          </p:nvPicPr>
          <p:blipFill>
            <a:blip r:embed="rId2" cstate="print"/>
            <a:stretch>
              <a:fillRect/>
            </a:stretch>
          </p:blipFill>
          <p:spPr>
            <a:xfrm>
              <a:off x="4748783" y="2756916"/>
              <a:ext cx="3406902" cy="544829"/>
            </a:xfrm>
            <a:prstGeom prst="rect">
              <a:avLst/>
            </a:prstGeom>
          </p:spPr>
        </p:pic>
        <p:pic>
          <p:nvPicPr>
            <p:cNvPr id="4" name="object 4"/>
            <p:cNvPicPr/>
            <p:nvPr/>
          </p:nvPicPr>
          <p:blipFill>
            <a:blip r:embed="rId3" cstate="print"/>
            <a:stretch>
              <a:fillRect/>
            </a:stretch>
          </p:blipFill>
          <p:spPr>
            <a:xfrm>
              <a:off x="4738750" y="2747264"/>
              <a:ext cx="3384930" cy="523494"/>
            </a:xfrm>
            <a:prstGeom prst="rect">
              <a:avLst/>
            </a:prstGeom>
          </p:spPr>
        </p:pic>
        <p:pic>
          <p:nvPicPr>
            <p:cNvPr id="5" name="object 5"/>
            <p:cNvPicPr/>
            <p:nvPr/>
          </p:nvPicPr>
          <p:blipFill>
            <a:blip r:embed="rId4" cstate="print"/>
            <a:stretch>
              <a:fillRect/>
            </a:stretch>
          </p:blipFill>
          <p:spPr>
            <a:xfrm>
              <a:off x="4700015" y="3255264"/>
              <a:ext cx="3498341" cy="1504950"/>
            </a:xfrm>
            <a:prstGeom prst="rect">
              <a:avLst/>
            </a:prstGeom>
          </p:spPr>
        </p:pic>
      </p:grpSp>
      <p:sp>
        <p:nvSpPr>
          <p:cNvPr id="6" name="object 6"/>
          <p:cNvSpPr txBox="1">
            <a:spLocks noGrp="1"/>
          </p:cNvSpPr>
          <p:nvPr>
            <p:ph type="title"/>
          </p:nvPr>
        </p:nvSpPr>
        <p:spPr>
          <a:xfrm>
            <a:off x="5132578" y="3439744"/>
            <a:ext cx="2635250" cy="848994"/>
          </a:xfrm>
          <a:prstGeom prst="rect">
            <a:avLst/>
          </a:prstGeom>
        </p:spPr>
        <p:txBody>
          <a:bodyPr vert="horz" wrap="square" lIns="0" tIns="12700" rIns="0" bIns="0" rtlCol="0">
            <a:spAutoFit/>
          </a:bodyPr>
          <a:lstStyle/>
          <a:p>
            <a:pPr marL="12700">
              <a:lnSpc>
                <a:spcPct val="100000"/>
              </a:lnSpc>
              <a:spcBef>
                <a:spcPts val="100"/>
              </a:spcBef>
            </a:pPr>
            <a:r>
              <a:rPr sz="5400" dirty="0">
                <a:solidFill>
                  <a:srgbClr val="A42F0F"/>
                </a:solidFill>
              </a:rPr>
              <a:t>Queries </a:t>
            </a:r>
            <a:r>
              <a:rPr sz="5400" spc="-50" dirty="0">
                <a:solidFill>
                  <a:srgbClr val="A42F0F"/>
                </a:solidFill>
              </a:rPr>
              <a:t>?</a:t>
            </a:r>
            <a:endParaRPr sz="5400"/>
          </a:p>
        </p:txBody>
      </p:sp>
      <p:sp>
        <p:nvSpPr>
          <p:cNvPr id="7" name="object 7"/>
          <p:cNvSpPr txBox="1"/>
          <p:nvPr/>
        </p:nvSpPr>
        <p:spPr>
          <a:xfrm>
            <a:off x="11458447" y="6349116"/>
            <a:ext cx="309245" cy="337820"/>
          </a:xfrm>
          <a:prstGeom prst="rect">
            <a:avLst/>
          </a:prstGeom>
        </p:spPr>
        <p:txBody>
          <a:bodyPr vert="horz" wrap="square" lIns="0" tIns="14604" rIns="0" bIns="0" rtlCol="0">
            <a:spAutoFit/>
          </a:bodyPr>
          <a:lstStyle/>
          <a:p>
            <a:pPr marL="12700">
              <a:lnSpc>
                <a:spcPct val="100000"/>
              </a:lnSpc>
              <a:spcBef>
                <a:spcPts val="114"/>
              </a:spcBef>
            </a:pPr>
            <a:r>
              <a:rPr sz="2000" spc="-140" dirty="0">
                <a:solidFill>
                  <a:srgbClr val="FFFFFF"/>
                </a:solidFill>
                <a:latin typeface="Verdana"/>
                <a:cs typeface="Verdana"/>
              </a:rPr>
              <a:t>17</a:t>
            </a:r>
            <a:endParaRPr sz="2000">
              <a:latin typeface="Verdana"/>
              <a:cs typeface="Verdana"/>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404040"/>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2980</TotalTime>
  <Words>1307</Words>
  <Application>Microsoft Office PowerPoint</Application>
  <PresentationFormat>Widescreen</PresentationFormat>
  <Paragraphs>127</Paragraphs>
  <Slides>16</Slides>
  <Notes>7</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16</vt:i4>
      </vt:variant>
    </vt:vector>
  </HeadingPairs>
  <TitlesOfParts>
    <vt:vector size="22" baseType="lpstr">
      <vt:lpstr>Arial</vt:lpstr>
      <vt:lpstr>Arial MT</vt:lpstr>
      <vt:lpstr>Calibri</vt:lpstr>
      <vt:lpstr>Times New Roman</vt:lpstr>
      <vt:lpstr>Verdana</vt:lpstr>
      <vt:lpstr>Office Theme</vt:lpstr>
      <vt:lpstr>Synopsis Presentation on E-Commerce Sales Prediction</vt:lpstr>
      <vt:lpstr>Contents</vt:lpstr>
      <vt:lpstr>1. Introduction</vt:lpstr>
      <vt:lpstr>2. Literature Review</vt:lpstr>
      <vt:lpstr>3. Problem Statement</vt:lpstr>
      <vt:lpstr>4. Proposed Solution</vt:lpstr>
      <vt:lpstr>5. Objective:</vt:lpstr>
      <vt:lpstr>6. Theoretical Analysis</vt:lpstr>
      <vt:lpstr>6. Theoretical Analysis</vt:lpstr>
      <vt:lpstr>6.3 Software Requirements</vt:lpstr>
      <vt:lpstr>7. Applications</vt:lpstr>
      <vt:lpstr>PowerPoint Presentation</vt:lpstr>
      <vt:lpstr>REFERENCES</vt:lpstr>
      <vt:lpstr>[4] Tsai, C. F., &amp; Hung, C. S. (2019). “Customer Purchase Behavior Prediction in E-commerce using Data Mining Techniques”</vt:lpstr>
      <vt:lpstr>PowerPoint Presentation</vt:lpstr>
      <vt:lpstr>Queries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Synopsis Presentation on  “FOCUSTRACK – A MONITORING SOFTWARE”</dc:title>
  <dc:creator>Deepak Singh Chouhan</dc:creator>
  <cp:lastModifiedBy>Hariom Mandloi</cp:lastModifiedBy>
  <cp:revision>13</cp:revision>
  <dcterms:created xsi:type="dcterms:W3CDTF">2025-04-08T06:25:43Z</dcterms:created>
  <dcterms:modified xsi:type="dcterms:W3CDTF">2025-11-14T11:16:55Z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2025-02-28T00:00:00Z</vt:filetime>
  </property>
  <property fmtid="{D5CDD505-2E9C-101B-9397-08002B2CF9AE}" pid="3" name="Creator">
    <vt:lpwstr>Microsoft® PowerPoint® for Microsoft 365</vt:lpwstr>
  </property>
  <property fmtid="{D5CDD505-2E9C-101B-9397-08002B2CF9AE}" pid="4" name="LastSaved">
    <vt:filetime>2025-04-08T00:00:00Z</vt:filetime>
  </property>
  <property fmtid="{D5CDD505-2E9C-101B-9397-08002B2CF9AE}" pid="5" name="Producer">
    <vt:lpwstr>Microsoft® PowerPoint® for Microsoft 365</vt:lpwstr>
  </property>
</Properties>
</file>