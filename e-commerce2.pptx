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0"/>
  </p:notesMasterIdLst>
  <p:sldIdLst>
    <p:sldId id="256" r:id="rId2"/>
    <p:sldId id="257" r:id="rId3"/>
    <p:sldId id="258" r:id="rId4"/>
    <p:sldId id="259" r:id="rId5"/>
    <p:sldId id="260" r:id="rId6"/>
    <p:sldId id="261" r:id="rId7"/>
    <p:sldId id="262" r:id="rId8"/>
    <p:sldId id="263" r:id="rId9"/>
    <p:sldId id="269" r:id="rId10"/>
    <p:sldId id="270" r:id="rId11"/>
    <p:sldId id="271" r:id="rId12"/>
    <p:sldId id="265" r:id="rId13"/>
    <p:sldId id="273" r:id="rId14"/>
    <p:sldId id="274" r:id="rId15"/>
    <p:sldId id="268" r:id="rId16"/>
    <p:sldId id="266" r:id="rId17"/>
    <p:sldId id="275"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0CE82B-6358-4224-A944-49B302498C36}" v="49" dt="2025-11-13T09:16:11.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23" autoAdjust="0"/>
    <p:restoredTop sz="94641" autoAdjust="0"/>
  </p:normalViewPr>
  <p:slideViewPr>
    <p:cSldViewPr snapToGrid="0">
      <p:cViewPr varScale="1">
        <p:scale>
          <a:sx n="68" d="100"/>
          <a:sy n="68" d="100"/>
        </p:scale>
        <p:origin x="452" y="72"/>
      </p:cViewPr>
      <p:guideLst/>
    </p:cSldViewPr>
  </p:slideViewPr>
  <p:outlineViewPr>
    <p:cViewPr>
      <p:scale>
        <a:sx n="33" d="100"/>
        <a:sy n="33" d="100"/>
      </p:scale>
      <p:origin x="0" y="-7651"/>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CFAE5-ADF6-4A84-8EA5-0D21F6BA36C9}"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D675-1F46-4B87-A5F8-67DB0C31E211}" type="slidenum">
              <a:rPr lang="en-IN" smtClean="0"/>
              <a:t>‹#›</a:t>
            </a:fld>
            <a:endParaRPr lang="en-IN"/>
          </a:p>
        </p:txBody>
      </p:sp>
    </p:spTree>
    <p:extLst>
      <p:ext uri="{BB962C8B-B14F-4D97-AF65-F5344CB8AC3E}">
        <p14:creationId xmlns:p14="http://schemas.microsoft.com/office/powerpoint/2010/main" val="376362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7CE75-2696-426B-A7C6-7629D8CF2437}"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7597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normAutofit/>
          </a:bodyPr>
          <a:lstStyle>
            <a:lvl1pPr>
              <a:defRPr sz="40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28F0E0-2234-4197-A558-6EA21AC7A0A0}"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userDrawn="1"/>
        </p:nvSpPr>
        <p:spPr bwMode="auto">
          <a:xfrm rot="10800000" flipV="1">
            <a:off x="10587856" y="6247184"/>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11222029" y="6338155"/>
            <a:ext cx="779767" cy="365125"/>
          </a:xfrm>
        </p:spPr>
        <p:txBody>
          <a:bodyPr/>
          <a:lstStyle>
            <a:lvl1pPr>
              <a:defRPr>
                <a:solidFill>
                  <a:schemeClr val="bg1"/>
                </a:solidFill>
              </a:defRPr>
            </a:lvl1pPr>
          </a:lstStyle>
          <a:p>
            <a:fld id="{A575ECA5-96F4-415B-9B7B-F5BEE4B08E09}" type="slidenum">
              <a:rPr lang="en-IN" smtClean="0"/>
              <a:pPr/>
              <a:t>‹#›</a:t>
            </a:fld>
            <a:endParaRPr lang="en-IN" dirty="0"/>
          </a:p>
        </p:txBody>
      </p:sp>
      <p:pic>
        <p:nvPicPr>
          <p:cNvPr id="9" name="Picture 8">
            <a:extLst>
              <a:ext uri="{FF2B5EF4-FFF2-40B4-BE49-F238E27FC236}">
                <a16:creationId xmlns:a16="http://schemas.microsoft.com/office/drawing/2014/main" id="{4D4E0AF9-0CD7-865F-F584-E7F93A8852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710" y="0"/>
            <a:ext cx="1457325" cy="1243013"/>
          </a:xfrm>
          <a:prstGeom prst="rect">
            <a:avLst/>
          </a:prstGeom>
        </p:spPr>
      </p:pic>
      <p:pic>
        <p:nvPicPr>
          <p:cNvPr id="11" name="Picture 10">
            <a:extLst>
              <a:ext uri="{FF2B5EF4-FFF2-40B4-BE49-F238E27FC236}">
                <a16:creationId xmlns:a16="http://schemas.microsoft.com/office/drawing/2014/main" id="{6642BC9D-E099-1948-3435-FFC2468E3B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03395" y="-394223"/>
            <a:ext cx="1017037" cy="1808066"/>
          </a:xfrm>
          <a:prstGeom prst="rect">
            <a:avLst/>
          </a:prstGeom>
        </p:spPr>
      </p:pic>
    </p:spTree>
    <p:extLst>
      <p:ext uri="{BB962C8B-B14F-4D97-AF65-F5344CB8AC3E}">
        <p14:creationId xmlns:p14="http://schemas.microsoft.com/office/powerpoint/2010/main" val="368486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33316-F1D2-4CFB-B3A8-36FF84D60DC1}"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394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EDD2DD-462B-4CBA-AA0A-8301F8EE9842}"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85902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6F0FB0-DEC5-44F8-B224-7DEA76B58BCE}" type="datetime1">
              <a:rPr lang="en-IN" smtClean="0"/>
              <a:t>13-11-2025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2513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2151C4-12AA-486A-8A73-FD7CDFC9A495}" type="datetime1">
              <a:rPr lang="en-IN" smtClean="0"/>
              <a:t>13-11-2025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49289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4A1EF-1C77-4320-9664-16BFC03E4F4D}" type="datetime1">
              <a:rPr lang="en-IN" smtClean="0"/>
              <a:t>13-11-2025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311484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01BE58-E9FD-47D2-91AC-7CE0251A25B2}"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428767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71803-78DB-4882-8A70-E311DA0EF9FC}"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76696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228FF-BE53-47F7-B430-409A097CA437}"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77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065DF8-C87B-4AA2-B81E-F9B41C3DE973}"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496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031343-E99C-4C22-AAE8-C343A811CECF}"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8727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65CDC9B-DBC7-4258-BEB9-733492353AF9}"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5122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3C6488-E703-4AFF-AB60-B11F0E50C7BC}" type="datetime1">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7311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63479-18BA-4E37-9716-A08D210E9EC7}"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535254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F7E75-1528-41FC-88CA-CFEB217670A5}" type="datetime1">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3855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F858841-AB6D-42AC-A9E1-E0D97A1068DD}" type="datetime1">
              <a:rPr lang="en-IN" smtClean="0"/>
              <a:t>13-11-2025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193EE77-AAE2-43CD-9ABE-9DB80FB4FF84}" type="slidenum">
              <a:rPr lang="en-IN" smtClean="0"/>
              <a:t>‹#›</a:t>
            </a:fld>
            <a:endParaRPr lang="en-IN"/>
          </a:p>
        </p:txBody>
      </p:sp>
    </p:spTree>
    <p:extLst>
      <p:ext uri="{BB962C8B-B14F-4D97-AF65-F5344CB8AC3E}">
        <p14:creationId xmlns:p14="http://schemas.microsoft.com/office/powerpoint/2010/main" val="114260593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4E13-AF13-FE84-B59A-88C7FF0DDD90}"/>
              </a:ext>
            </a:extLst>
          </p:cNvPr>
          <p:cNvSpPr>
            <a:spLocks noGrp="1"/>
          </p:cNvSpPr>
          <p:nvPr>
            <p:ph type="ctrTitle"/>
          </p:nvPr>
        </p:nvSpPr>
        <p:spPr>
          <a:xfrm>
            <a:off x="2261221" y="1133061"/>
            <a:ext cx="8915399" cy="2295939"/>
          </a:xfrm>
        </p:spPr>
        <p:txBody>
          <a:bodyPr>
            <a:normAutofit fontScale="90000"/>
          </a:bodyPr>
          <a:lstStyle/>
          <a:p>
            <a:pPr algn="ct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sz="3100" dirty="0">
                <a:latin typeface="Times New Roman" panose="02020603050405020304" pitchFamily="18" charset="0"/>
                <a:cs typeface="Times New Roman" panose="02020603050405020304" pitchFamily="18" charset="0"/>
              </a:rPr>
              <a:t>Presentation</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on </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E-Commerce Sales Prediction</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4B09E56-A5E9-0BDC-98BD-DDD921DCD7E1}"/>
              </a:ext>
            </a:extLst>
          </p:cNvPr>
          <p:cNvSpPr>
            <a:spLocks noGrp="1"/>
          </p:cNvSpPr>
          <p:nvPr>
            <p:ph type="subTitle" idx="1"/>
          </p:nvPr>
        </p:nvSpPr>
        <p:spPr>
          <a:xfrm>
            <a:off x="2375453" y="3747052"/>
            <a:ext cx="9079464" cy="3031435"/>
          </a:xfrm>
        </p:spPr>
        <p:txBody>
          <a:bodyPr>
            <a:normAutofit fontScale="92500" lnSpcReduction="10000"/>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Guided 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Prof. Mahendra Verma								Hariom Mandloi (0827CD221033)</a:t>
            </a:r>
          </a:p>
          <a:p>
            <a:r>
              <a:rPr lang="en-IN" dirty="0">
                <a:latin typeface="Times New Roman" panose="02020603050405020304" pitchFamily="18" charset="0"/>
                <a:cs typeface="Times New Roman" panose="02020603050405020304" pitchFamily="18" charset="0"/>
              </a:rPr>
              <a:t>												Shubham </a:t>
            </a:r>
            <a:r>
              <a:rPr lang="en-IN" dirty="0" err="1">
                <a:latin typeface="Times New Roman" panose="02020603050405020304" pitchFamily="18" charset="0"/>
                <a:cs typeface="Times New Roman" panose="02020603050405020304" pitchFamily="18" charset="0"/>
              </a:rPr>
              <a:t>Siloriya</a:t>
            </a:r>
            <a:r>
              <a:rPr lang="en-IN" dirty="0">
                <a:latin typeface="Times New Roman" panose="02020603050405020304" pitchFamily="18" charset="0"/>
                <a:cs typeface="Times New Roman" panose="02020603050405020304" pitchFamily="18" charset="0"/>
              </a:rPr>
              <a:t> (0827CD221068)</a:t>
            </a:r>
          </a:p>
          <a:p>
            <a:r>
              <a:rPr lang="en-IN" dirty="0">
                <a:latin typeface="Times New Roman" panose="02020603050405020304" pitchFamily="18" charset="0"/>
                <a:cs typeface="Times New Roman" panose="02020603050405020304" pitchFamily="18" charset="0"/>
              </a:rPr>
              <a:t>												Deepak Patel (0827CD221023)</a:t>
            </a:r>
          </a:p>
          <a:p>
            <a:r>
              <a:rPr lang="en-IN" dirty="0">
                <a:latin typeface="Times New Roman" panose="02020603050405020304" pitchFamily="18" charset="0"/>
                <a:cs typeface="Times New Roman" panose="02020603050405020304" pitchFamily="18" charset="0"/>
              </a:rPr>
              <a:t>												Deepak Patel (0827CD221024)</a:t>
            </a:r>
          </a:p>
          <a:p>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69BC312B-2F58-B7DE-00D2-0142F8801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7059" y="-354166"/>
            <a:ext cx="1175716" cy="2090162"/>
          </a:xfrm>
          <a:prstGeom prst="rect">
            <a:avLst/>
          </a:prstGeom>
        </p:spPr>
      </p:pic>
      <p:pic>
        <p:nvPicPr>
          <p:cNvPr id="9" name="Picture 8">
            <a:extLst>
              <a:ext uri="{FF2B5EF4-FFF2-40B4-BE49-F238E27FC236}">
                <a16:creationId xmlns:a16="http://schemas.microsoft.com/office/drawing/2014/main" id="{145F9EF6-DBB5-9291-78C0-1BD5FCF2C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75" y="0"/>
            <a:ext cx="1620078" cy="1381831"/>
          </a:xfrm>
          <a:prstGeom prst="rect">
            <a:avLst/>
          </a:prstGeom>
        </p:spPr>
      </p:pic>
    </p:spTree>
    <p:extLst>
      <p:ext uri="{BB962C8B-B14F-4D97-AF65-F5344CB8AC3E}">
        <p14:creationId xmlns:p14="http://schemas.microsoft.com/office/powerpoint/2010/main" val="417227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8BD3-82F3-F887-7675-7696E56FA9EA}"/>
              </a:ext>
            </a:extLst>
          </p:cNvPr>
          <p:cNvSpPr>
            <a:spLocks noGrp="1"/>
          </p:cNvSpPr>
          <p:nvPr>
            <p:ph type="title"/>
          </p:nvPr>
        </p:nvSpPr>
        <p:spPr>
          <a:xfrm>
            <a:off x="2589212" y="475750"/>
            <a:ext cx="8911687" cy="1280890"/>
          </a:xfrm>
        </p:spPr>
        <p:txBody>
          <a:bodyPr/>
          <a:lstStyle/>
          <a:p>
            <a:r>
              <a:rPr lang="en-IN" dirty="0"/>
              <a:t>Contents</a:t>
            </a:r>
          </a:p>
        </p:txBody>
      </p:sp>
      <p:sp>
        <p:nvSpPr>
          <p:cNvPr id="3" name="Content Placeholder 2">
            <a:extLst>
              <a:ext uri="{FF2B5EF4-FFF2-40B4-BE49-F238E27FC236}">
                <a16:creationId xmlns:a16="http://schemas.microsoft.com/office/drawing/2014/main" id="{CF4DD591-8615-A08A-67F8-943007048E4D}"/>
              </a:ext>
            </a:extLst>
          </p:cNvPr>
          <p:cNvSpPr>
            <a:spLocks noGrp="1"/>
          </p:cNvSpPr>
          <p:nvPr>
            <p:ph idx="1"/>
          </p:nvPr>
        </p:nvSpPr>
        <p:spPr>
          <a:xfrm>
            <a:off x="2589212" y="1152938"/>
            <a:ext cx="8915400" cy="5466523"/>
          </a:xfrm>
        </p:spPr>
        <p:txBody>
          <a:bodyPr>
            <a:normAutofit fontScale="62500" lnSpcReduction="20000"/>
          </a:bodyPr>
          <a:lstStyle/>
          <a:p>
            <a:pPr marL="457200" indent="-457200">
              <a:buFont typeface="+mj-lt"/>
              <a:buAutoNum type="arabicPeriod"/>
            </a:pPr>
            <a:r>
              <a:rPr lang="en-IN" dirty="0"/>
              <a:t>Introduction</a:t>
            </a:r>
          </a:p>
          <a:p>
            <a:pPr marL="457200" lvl="1" indent="0">
              <a:buNone/>
            </a:pPr>
            <a:r>
              <a:rPr lang="en-IN" dirty="0">
                <a:solidFill>
                  <a:srgbClr val="C00000"/>
                </a:solidFill>
              </a:rPr>
              <a:t>1.1</a:t>
            </a:r>
            <a:r>
              <a:rPr lang="en-IN" dirty="0"/>
              <a:t> Overview</a:t>
            </a:r>
          </a:p>
          <a:p>
            <a:pPr marL="457200" lvl="1" indent="0">
              <a:buNone/>
            </a:pPr>
            <a:r>
              <a:rPr lang="en-IN" dirty="0">
                <a:solidFill>
                  <a:srgbClr val="C00000"/>
                </a:solidFill>
              </a:rPr>
              <a:t>1.2</a:t>
            </a:r>
            <a:r>
              <a:rPr lang="en-IN" dirty="0"/>
              <a:t> Purpose</a:t>
            </a:r>
          </a:p>
          <a:p>
            <a:pPr marL="457200" indent="-457200">
              <a:buFont typeface="+mj-lt"/>
              <a:buAutoNum type="arabicPeriod"/>
            </a:pPr>
            <a:r>
              <a:rPr lang="en-IN" dirty="0"/>
              <a:t>Requirement Engineering</a:t>
            </a:r>
          </a:p>
          <a:p>
            <a:pPr marL="400050" lvl="1" indent="0">
              <a:buNone/>
            </a:pPr>
            <a:r>
              <a:rPr lang="en-IN" dirty="0">
                <a:solidFill>
                  <a:srgbClr val="C00000"/>
                </a:solidFill>
              </a:rPr>
              <a:t>2.1</a:t>
            </a:r>
            <a:r>
              <a:rPr lang="en-IN" dirty="0"/>
              <a:t> Requirement Collection</a:t>
            </a:r>
          </a:p>
          <a:p>
            <a:pPr marL="400050" lvl="1" indent="0">
              <a:buNone/>
            </a:pPr>
            <a:r>
              <a:rPr lang="en-IN" dirty="0">
                <a:solidFill>
                  <a:srgbClr val="C00000"/>
                </a:solidFill>
              </a:rPr>
              <a:t>2.2</a:t>
            </a:r>
            <a:r>
              <a:rPr lang="en-IN" dirty="0"/>
              <a:t> Functional Requirements</a:t>
            </a:r>
          </a:p>
          <a:p>
            <a:pPr marL="400050" lvl="1" indent="0">
              <a:buNone/>
            </a:pPr>
            <a:r>
              <a:rPr lang="en-IN" dirty="0">
                <a:solidFill>
                  <a:srgbClr val="C00000"/>
                </a:solidFill>
              </a:rPr>
              <a:t>2.3</a:t>
            </a:r>
            <a:r>
              <a:rPr lang="en-IN" dirty="0"/>
              <a:t> Non Functional Requirements</a:t>
            </a:r>
          </a:p>
          <a:p>
            <a:pPr marL="400050" lvl="1" indent="0">
              <a:buNone/>
            </a:pPr>
            <a:r>
              <a:rPr lang="en-IN" dirty="0">
                <a:solidFill>
                  <a:srgbClr val="C00000"/>
                </a:solidFill>
              </a:rPr>
              <a:t>2.4</a:t>
            </a:r>
            <a:r>
              <a:rPr lang="en-IN" dirty="0"/>
              <a:t> Use Case Diagram</a:t>
            </a:r>
          </a:p>
          <a:p>
            <a:pPr marL="457200" indent="-457200">
              <a:buFont typeface="+mj-lt"/>
              <a:buAutoNum type="arabicPeriod"/>
            </a:pPr>
            <a:r>
              <a:rPr lang="en-IN" dirty="0"/>
              <a:t>Technical Design</a:t>
            </a:r>
          </a:p>
          <a:p>
            <a:pPr marL="400050" lvl="1" indent="0">
              <a:buNone/>
            </a:pPr>
            <a:r>
              <a:rPr lang="en-IN" dirty="0">
                <a:solidFill>
                  <a:srgbClr val="C00000"/>
                </a:solidFill>
              </a:rPr>
              <a:t>3.1</a:t>
            </a:r>
            <a:r>
              <a:rPr lang="en-IN" dirty="0"/>
              <a:t> Technical Architecture</a:t>
            </a:r>
          </a:p>
          <a:p>
            <a:pPr marL="400050" lvl="1" indent="0">
              <a:buNone/>
            </a:pPr>
            <a:r>
              <a:rPr lang="en-IN" dirty="0">
                <a:solidFill>
                  <a:srgbClr val="C00000"/>
                </a:solidFill>
              </a:rPr>
              <a:t>3.2</a:t>
            </a:r>
            <a:r>
              <a:rPr lang="en-IN" dirty="0"/>
              <a:t> Sequence Diagram</a:t>
            </a:r>
          </a:p>
          <a:p>
            <a:pPr marL="400050" lvl="1" indent="0">
              <a:buNone/>
            </a:pPr>
            <a:r>
              <a:rPr lang="en-IN" dirty="0">
                <a:solidFill>
                  <a:srgbClr val="C00000"/>
                </a:solidFill>
              </a:rPr>
              <a:t>3.3</a:t>
            </a:r>
            <a:r>
              <a:rPr lang="en-IN" dirty="0"/>
              <a:t> Class Diagram</a:t>
            </a:r>
          </a:p>
          <a:p>
            <a:pPr marL="400050" lvl="1" indent="0">
              <a:buNone/>
            </a:pPr>
            <a:r>
              <a:rPr lang="en-IN" dirty="0">
                <a:solidFill>
                  <a:srgbClr val="C00000"/>
                </a:solidFill>
              </a:rPr>
              <a:t>3.4</a:t>
            </a:r>
            <a:r>
              <a:rPr lang="en-IN" dirty="0"/>
              <a:t> DFD</a:t>
            </a:r>
          </a:p>
          <a:p>
            <a:pPr marL="457200" indent="-457200">
              <a:buFont typeface="+mj-lt"/>
              <a:buAutoNum type="arabicPeriod"/>
            </a:pPr>
            <a:r>
              <a:rPr lang="en-IN" dirty="0"/>
              <a:t>User Interface Design</a:t>
            </a:r>
          </a:p>
          <a:p>
            <a:pPr marL="457200" indent="-457200">
              <a:buFont typeface="+mj-lt"/>
              <a:buAutoNum type="arabicPeriod"/>
            </a:pPr>
            <a:r>
              <a:rPr lang="en-IN" dirty="0"/>
              <a:t>Data Design</a:t>
            </a:r>
          </a:p>
          <a:p>
            <a:pPr marL="400050" lvl="1" indent="0">
              <a:buNone/>
            </a:pPr>
            <a:r>
              <a:rPr lang="en-IN" dirty="0">
                <a:solidFill>
                  <a:srgbClr val="C00000"/>
                </a:solidFill>
              </a:rPr>
              <a:t>5.1</a:t>
            </a:r>
            <a:r>
              <a:rPr lang="en-IN" dirty="0"/>
              <a:t> Schema Design</a:t>
            </a:r>
          </a:p>
          <a:p>
            <a:pPr marL="400050" lvl="1" indent="0">
              <a:buNone/>
            </a:pPr>
            <a:r>
              <a:rPr lang="en-IN" dirty="0">
                <a:solidFill>
                  <a:srgbClr val="C00000"/>
                </a:solidFill>
              </a:rPr>
              <a:t>5.2</a:t>
            </a:r>
            <a:r>
              <a:rPr lang="en-IN" dirty="0"/>
              <a:t> E-R Diagram</a:t>
            </a:r>
          </a:p>
          <a:p>
            <a:pPr marL="0" indent="0">
              <a:buNone/>
            </a:pPr>
            <a:r>
              <a:rPr lang="en-IN" dirty="0"/>
              <a:t>REFERENCES</a:t>
            </a:r>
          </a:p>
        </p:txBody>
      </p:sp>
      <p:sp>
        <p:nvSpPr>
          <p:cNvPr id="4" name="Slide Number Placeholder 3">
            <a:extLst>
              <a:ext uri="{FF2B5EF4-FFF2-40B4-BE49-F238E27FC236}">
                <a16:creationId xmlns:a16="http://schemas.microsoft.com/office/drawing/2014/main" id="{E8A21891-9C7A-E4D4-07BD-AF0CB8124C66}"/>
              </a:ext>
            </a:extLst>
          </p:cNvPr>
          <p:cNvSpPr>
            <a:spLocks noGrp="1"/>
          </p:cNvSpPr>
          <p:nvPr>
            <p:ph type="sldNum" sz="quarter" idx="12"/>
          </p:nvPr>
        </p:nvSpPr>
        <p:spPr/>
        <p:txBody>
          <a:bodyPr/>
          <a:lstStyle/>
          <a:p>
            <a:fld id="{A575ECA5-96F4-415B-9B7B-F5BEE4B08E09}" type="slidenum">
              <a:rPr lang="en-IN" smtClean="0"/>
              <a:pPr/>
              <a:t>2</a:t>
            </a:fld>
            <a:endParaRPr lang="en-IN" dirty="0"/>
          </a:p>
        </p:txBody>
      </p:sp>
    </p:spTree>
    <p:extLst>
      <p:ext uri="{BB962C8B-B14F-4D97-AF65-F5344CB8AC3E}">
        <p14:creationId xmlns:p14="http://schemas.microsoft.com/office/powerpoint/2010/main" val="104864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p:txBody>
          <a:bodyPr/>
          <a:lstStyle/>
          <a:p>
            <a:r>
              <a:rPr lang="en-IN" dirty="0"/>
              <a:t>1. Introduction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332688"/>
            <a:ext cx="8915400" cy="5116749"/>
          </a:xfrm>
        </p:spPr>
        <p:txBody>
          <a:bodyPr>
            <a:normAutofit/>
          </a:bodyPr>
          <a:lstStyle/>
          <a:p>
            <a:pPr marL="0" indent="0">
              <a:buNone/>
            </a:pPr>
            <a:r>
              <a:rPr lang="en-IN" dirty="0"/>
              <a:t>1.1 </a:t>
            </a:r>
            <a:r>
              <a:rPr lang="en-IN" sz="2600" dirty="0"/>
              <a:t>Overview</a:t>
            </a:r>
          </a:p>
          <a:p>
            <a:pPr marL="0" indent="0">
              <a:buNone/>
            </a:pPr>
            <a:r>
              <a:rPr lang="en-US" sz="1800" dirty="0"/>
              <a:t>The E-commerce Sales Analysis and Prediction System is a data-driven software solution designed to analyze online shopping data, visualize trends, and build machine learning models to predict future sales, revenue, customer behavior, and product demand. </a:t>
            </a:r>
          </a:p>
          <a:p>
            <a:pPr marL="0" indent="0">
              <a:buNone/>
            </a:pPr>
            <a:r>
              <a:rPr lang="en-US" sz="1800" dirty="0"/>
              <a:t>This project helps in understanding customer buying patterns, popular product categories, seasonal sales trends, and predicting future demand using historical data.</a:t>
            </a:r>
          </a:p>
          <a:p>
            <a:pPr marL="0" indent="0">
              <a:buNone/>
            </a:pPr>
            <a:r>
              <a:rPr lang="en-US" dirty="0">
                <a:solidFill>
                  <a:srgbClr val="000000"/>
                </a:solidFill>
                <a:latin typeface="Times New Roman" panose="02020603050405020304" pitchFamily="18" charset="0"/>
              </a:rPr>
              <a:t>1.2 </a:t>
            </a:r>
            <a:r>
              <a:rPr lang="en-US" sz="2600" dirty="0">
                <a:solidFill>
                  <a:srgbClr val="000000"/>
                </a:solidFill>
              </a:rPr>
              <a:t>Purpose</a:t>
            </a:r>
          </a:p>
          <a:p>
            <a:pPr marL="0" indent="0">
              <a:buNone/>
            </a:pPr>
            <a:r>
              <a:rPr lang="en-US" sz="1900" dirty="0"/>
              <a:t>The purpose of this project is to analyze real-world e-commerce sales data to uncover meaningful insights and use machine learning techniques to predict future outcomes such as sales trends, revenue, customer behavior, and delivery performance. In today’s rapidly evolving digital marketplace, e-commerce platforms generate vast amounts of data from customer purchases, payments, product categories, and logistics. However, this raw data is rarely used to its full potential. Through this project, the aim is to transform raw data into valuable business intelligence by applying data preprocessing, exploratory data analysis (EDA), visualization, and predictive modeling. </a:t>
            </a:r>
            <a:endParaRPr lang="en-US" sz="1900" dirty="0">
              <a:solidFill>
                <a:srgbClr val="000000"/>
              </a:solidFill>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3</a:t>
            </a:fld>
            <a:endParaRPr lang="en-IN" dirty="0"/>
          </a:p>
        </p:txBody>
      </p:sp>
    </p:spTree>
    <p:extLst>
      <p:ext uri="{BB962C8B-B14F-4D97-AF65-F5344CB8AC3E}">
        <p14:creationId xmlns:p14="http://schemas.microsoft.com/office/powerpoint/2010/main" val="4021755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73261" y="220994"/>
            <a:ext cx="8911687" cy="1280890"/>
          </a:xfrm>
        </p:spPr>
        <p:txBody>
          <a:bodyPr>
            <a:normAutofit fontScale="90000"/>
          </a:bodyPr>
          <a:lstStyle/>
          <a:p>
            <a:r>
              <a:rPr lang="en-IN" dirty="0"/>
              <a:t>2. Requirement Engineering</a:t>
            </a:r>
            <a:br>
              <a:rPr lang="en-IN" dirty="0"/>
            </a:br>
            <a:r>
              <a:rPr lang="en-IN" dirty="0"/>
              <a:t>	2.1 Requirement Collection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349660" y="1501884"/>
            <a:ext cx="9498209" cy="4977574"/>
          </a:xfrm>
        </p:spPr>
        <p:txBody>
          <a:bodyPr>
            <a:normAutofit/>
          </a:bodyPr>
          <a:lstStyle/>
          <a:p>
            <a:r>
              <a:rPr lang="en-US" b="1" dirty="0"/>
              <a:t>Stakeholder Inputs:</a:t>
            </a:r>
            <a:br>
              <a:rPr lang="en-US" dirty="0"/>
            </a:br>
            <a:r>
              <a:rPr lang="en-US" dirty="0"/>
              <a:t>Requirements are gathered by discussing with business owners and analysts to understand needs like sales analysis, customer segmentation, forecasting, and performance insights.</a:t>
            </a:r>
          </a:p>
          <a:p>
            <a:r>
              <a:rPr lang="en-US" b="1" dirty="0"/>
              <a:t>Dataset Examination:</a:t>
            </a:r>
            <a:br>
              <a:rPr lang="en-US" dirty="0"/>
            </a:br>
            <a:r>
              <a:rPr lang="en-US" dirty="0"/>
              <a:t>The e-commerce dataset is reviewed to check available features, data quality, and missing values, ensuring it is suitable for analytics and machine learning tasks</a:t>
            </a:r>
          </a:p>
          <a:p>
            <a:r>
              <a:rPr lang="en-US" b="1" dirty="0"/>
              <a:t>Goal &amp; Use-case Definition:</a:t>
            </a:r>
            <a:br>
              <a:rPr lang="en-US" dirty="0"/>
            </a:br>
            <a:r>
              <a:rPr lang="en-US" dirty="0"/>
              <a:t>Project objectives such as predicting sales, identifying top categories, or visualizing customer behavior are finalized to shape system functionality.</a:t>
            </a:r>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4</a:t>
            </a:fld>
            <a:endParaRPr lang="en-IN" dirty="0"/>
          </a:p>
        </p:txBody>
      </p:sp>
    </p:spTree>
    <p:extLst>
      <p:ext uri="{BB962C8B-B14F-4D97-AF65-F5344CB8AC3E}">
        <p14:creationId xmlns:p14="http://schemas.microsoft.com/office/powerpoint/2010/main" val="18856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5" y="466798"/>
            <a:ext cx="8911687" cy="1280890"/>
          </a:xfrm>
        </p:spPr>
        <p:txBody>
          <a:bodyPr/>
          <a:lstStyle/>
          <a:p>
            <a:r>
              <a:rPr lang="en-IN" dirty="0"/>
              <a:t>2.2 Function Requirements</a:t>
            </a: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5</a:t>
            </a:fld>
            <a:endParaRPr lang="en-IN" dirty="0"/>
          </a:p>
        </p:txBody>
      </p:sp>
      <p:sp>
        <p:nvSpPr>
          <p:cNvPr id="5" name="Rectangle 1">
            <a:extLst>
              <a:ext uri="{FF2B5EF4-FFF2-40B4-BE49-F238E27FC236}">
                <a16:creationId xmlns:a16="http://schemas.microsoft.com/office/drawing/2014/main" id="{BB19E557-170F-7DCB-7DB7-4A71C66FD481}"/>
              </a:ext>
            </a:extLst>
          </p:cNvPr>
          <p:cNvSpPr>
            <a:spLocks noGrp="1" noChangeArrowheads="1"/>
          </p:cNvSpPr>
          <p:nvPr>
            <p:ph idx="1"/>
          </p:nvPr>
        </p:nvSpPr>
        <p:spPr bwMode="auto">
          <a:xfrm>
            <a:off x="2589212" y="2606381"/>
            <a:ext cx="110124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Rectangle 2">
            <a:extLst>
              <a:ext uri="{FF2B5EF4-FFF2-40B4-BE49-F238E27FC236}">
                <a16:creationId xmlns:a16="http://schemas.microsoft.com/office/drawing/2014/main" id="{89B096FE-1438-9FC9-2AC9-A66FE1ADFDCC}"/>
              </a:ext>
            </a:extLst>
          </p:cNvPr>
          <p:cNvSpPr>
            <a:spLocks noChangeArrowheads="1"/>
          </p:cNvSpPr>
          <p:nvPr/>
        </p:nvSpPr>
        <p:spPr bwMode="auto">
          <a:xfrm>
            <a:off x="2421752" y="1233072"/>
            <a:ext cx="880027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system should allow users to upload e-commerce datasets in CSV format for analysis.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should automatically clean, preprocess, and prepare the uploaded data for further processing.</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should generate visual insights such as sales trends, category-wise revenue, and customer behavior charts.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should allow users to train machine learning models on the processed data.</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system should allow users to input new values or upload a file to generate predictions.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should display model outputs, predictions, and visual analytics instantly after processing.</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All data files, processed outputs, trained models, and generated insights should be stored securely within the system</a:t>
            </a:r>
          </a:p>
          <a:p>
            <a:pPr lvl="0" defTabSz="914400"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595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p:txBody>
          <a:bodyPr/>
          <a:lstStyle/>
          <a:p>
            <a:r>
              <a:rPr lang="en-IN" dirty="0"/>
              <a:t>2.2 Non Functional Requirements </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8915400" cy="4363278"/>
          </a:xfrm>
        </p:spPr>
        <p:txBody>
          <a:bodyPr>
            <a:normAutofit fontScale="70000" lnSpcReduction="20000"/>
          </a:bodyPr>
          <a:lstStyle/>
          <a:p>
            <a:r>
              <a:rPr lang="en-US" sz="2800" dirty="0"/>
              <a:t>The system should provide a fast and responsive interface, ensuring smooth user interaction and minimal delays.</a:t>
            </a:r>
          </a:p>
          <a:p>
            <a:r>
              <a:rPr lang="en-US" sz="2800" dirty="0"/>
              <a:t>The system should handle large e-commerce datasets efficiently without performance degradation.</a:t>
            </a:r>
          </a:p>
          <a:p>
            <a:r>
              <a:rPr lang="en-US" sz="2800" dirty="0"/>
              <a:t>The system should ensure data security by protecting uploaded files and user-generated outputs.</a:t>
            </a:r>
          </a:p>
          <a:p>
            <a:r>
              <a:rPr lang="en-US" sz="2800" dirty="0"/>
              <a:t>The system should maintain high accuracy and reliability in machine learning predictions.</a:t>
            </a:r>
          </a:p>
          <a:p>
            <a:r>
              <a:rPr lang="en-US" sz="2800" dirty="0"/>
              <a:t>The system should offer a user-friendly interface that is easy to navigate even for non-technical users</a:t>
            </a:r>
          </a:p>
          <a:p>
            <a:r>
              <a:rPr lang="en-US" sz="2800" b="1" dirty="0"/>
              <a:t>.</a:t>
            </a:r>
            <a:r>
              <a:rPr lang="en-US" sz="2800" dirty="0"/>
              <a:t> The system should ensure compatibility across different devices and screen sizes.</a:t>
            </a:r>
          </a:p>
          <a:p>
            <a:pPr marL="0" indent="0">
              <a:buNone/>
            </a:pPr>
            <a:br>
              <a:rPr lang="en-US" sz="2800" dirty="0"/>
            </a:br>
            <a:endParaRPr lang="en-IN" sz="2800"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6</a:t>
            </a:fld>
            <a:endParaRPr lang="en-IN" dirty="0"/>
          </a:p>
        </p:txBody>
      </p:sp>
    </p:spTree>
    <p:extLst>
      <p:ext uri="{BB962C8B-B14F-4D97-AF65-F5344CB8AC3E}">
        <p14:creationId xmlns:p14="http://schemas.microsoft.com/office/powerpoint/2010/main" val="284116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5" y="152769"/>
            <a:ext cx="8911687" cy="1280890"/>
          </a:xfrm>
        </p:spPr>
        <p:txBody>
          <a:bodyPr/>
          <a:lstStyle/>
          <a:p>
            <a:r>
              <a:rPr lang="en-IN" dirty="0"/>
              <a:t>2.3 Use Case Diagram</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8915400" cy="4363278"/>
          </a:xfrm>
        </p:spPr>
        <p:txBody>
          <a:bodyPr/>
          <a:lstStyle/>
          <a:p>
            <a:pPr marL="0" indent="0">
              <a:buNone/>
            </a:pPr>
            <a:endParaRPr lang="en-IN"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7</a:t>
            </a:fld>
            <a:endParaRPr lang="en-IN" dirty="0"/>
          </a:p>
        </p:txBody>
      </p:sp>
      <p:pic>
        <p:nvPicPr>
          <p:cNvPr id="7" name="Picture 6">
            <a:extLst>
              <a:ext uri="{FF2B5EF4-FFF2-40B4-BE49-F238E27FC236}">
                <a16:creationId xmlns:a16="http://schemas.microsoft.com/office/drawing/2014/main" id="{BDAB9BCD-7896-66F1-3068-CF96442AC63F}"/>
              </a:ext>
            </a:extLst>
          </p:cNvPr>
          <p:cNvPicPr>
            <a:picLocks noChangeAspect="1"/>
          </p:cNvPicPr>
          <p:nvPr/>
        </p:nvPicPr>
        <p:blipFill>
          <a:blip r:embed="rId2"/>
          <a:stretch>
            <a:fillRect/>
          </a:stretch>
        </p:blipFill>
        <p:spPr>
          <a:xfrm>
            <a:off x="3571745" y="1112362"/>
            <a:ext cx="5998230" cy="4817097"/>
          </a:xfrm>
          <a:prstGeom prst="rect">
            <a:avLst/>
          </a:prstGeom>
        </p:spPr>
      </p:pic>
    </p:spTree>
    <p:extLst>
      <p:ext uri="{BB962C8B-B14F-4D97-AF65-F5344CB8AC3E}">
        <p14:creationId xmlns:p14="http://schemas.microsoft.com/office/powerpoint/2010/main" val="87097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5" y="190478"/>
            <a:ext cx="8911687" cy="1280890"/>
          </a:xfrm>
        </p:spPr>
        <p:txBody>
          <a:bodyPr>
            <a:normAutofit fontScale="90000"/>
          </a:bodyPr>
          <a:lstStyle/>
          <a:p>
            <a:r>
              <a:rPr lang="en-IN" dirty="0"/>
              <a:t>3. Technical Design</a:t>
            </a:r>
            <a:br>
              <a:rPr lang="en-IN" dirty="0"/>
            </a:br>
            <a:r>
              <a:rPr lang="en-IN" dirty="0"/>
              <a:t>	</a:t>
            </a:r>
            <a:r>
              <a:rPr lang="en-IN" dirty="0">
                <a:solidFill>
                  <a:schemeClr val="tx1"/>
                </a:solidFill>
              </a:rPr>
              <a:t>3.1</a:t>
            </a:r>
            <a:r>
              <a:rPr lang="en-IN" dirty="0"/>
              <a:t> Technical Architecture</a:t>
            </a: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8</a:t>
            </a:fld>
            <a:endParaRPr lang="en-IN" dirty="0"/>
          </a:p>
        </p:txBody>
      </p:sp>
      <p:pic>
        <p:nvPicPr>
          <p:cNvPr id="8" name="Content Placeholder 7">
            <a:extLst>
              <a:ext uri="{FF2B5EF4-FFF2-40B4-BE49-F238E27FC236}">
                <a16:creationId xmlns:a16="http://schemas.microsoft.com/office/drawing/2014/main" id="{D4E8D65E-A5E4-3823-BF2E-CBF65520CE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5862" y="1471367"/>
            <a:ext cx="4456253" cy="4866787"/>
          </a:xfrm>
        </p:spPr>
      </p:pic>
    </p:spTree>
    <p:extLst>
      <p:ext uri="{BB962C8B-B14F-4D97-AF65-F5344CB8AC3E}">
        <p14:creationId xmlns:p14="http://schemas.microsoft.com/office/powerpoint/2010/main" val="391722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8171-3C93-3951-64B3-73BCBD9C6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99705-08D0-11A7-6890-F6B46FB1D0FF}"/>
              </a:ext>
            </a:extLst>
          </p:cNvPr>
          <p:cNvSpPr>
            <a:spLocks noGrp="1"/>
          </p:cNvSpPr>
          <p:nvPr>
            <p:ph type="title"/>
          </p:nvPr>
        </p:nvSpPr>
        <p:spPr>
          <a:xfrm>
            <a:off x="2592925" y="510986"/>
            <a:ext cx="8911687" cy="1280890"/>
          </a:xfrm>
        </p:spPr>
        <p:txBody>
          <a:bodyPr>
            <a:normAutofit/>
          </a:bodyPr>
          <a:lstStyle/>
          <a:p>
            <a:r>
              <a:rPr lang="en-IN" dirty="0">
                <a:solidFill>
                  <a:schemeClr val="tx1"/>
                </a:solidFill>
              </a:rPr>
              <a:t>3.2</a:t>
            </a:r>
            <a:r>
              <a:rPr lang="en-IN" dirty="0"/>
              <a:t> Sequence Diagram</a:t>
            </a:r>
          </a:p>
        </p:txBody>
      </p:sp>
      <p:sp>
        <p:nvSpPr>
          <p:cNvPr id="4" name="Slide Number Placeholder 3">
            <a:extLst>
              <a:ext uri="{FF2B5EF4-FFF2-40B4-BE49-F238E27FC236}">
                <a16:creationId xmlns:a16="http://schemas.microsoft.com/office/drawing/2014/main" id="{1CFA5758-5323-C7B4-8A6F-91E3A4C349AC}"/>
              </a:ext>
            </a:extLst>
          </p:cNvPr>
          <p:cNvSpPr>
            <a:spLocks noGrp="1"/>
          </p:cNvSpPr>
          <p:nvPr>
            <p:ph type="sldNum" sz="quarter" idx="12"/>
          </p:nvPr>
        </p:nvSpPr>
        <p:spPr/>
        <p:txBody>
          <a:bodyPr/>
          <a:lstStyle/>
          <a:p>
            <a:fld id="{A575ECA5-96F4-415B-9B7B-F5BEE4B08E09}" type="slidenum">
              <a:rPr lang="en-IN" smtClean="0"/>
              <a:pPr/>
              <a:t>9</a:t>
            </a:fld>
            <a:endParaRPr lang="en-IN" dirty="0"/>
          </a:p>
        </p:txBody>
      </p:sp>
      <p:pic>
        <p:nvPicPr>
          <p:cNvPr id="6" name="Content Placeholder 5">
            <a:extLst>
              <a:ext uri="{FF2B5EF4-FFF2-40B4-BE49-F238E27FC236}">
                <a16:creationId xmlns:a16="http://schemas.microsoft.com/office/drawing/2014/main" id="{78334528-E2A8-939B-073C-B9231F248B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969" t="6169" r="4367" b="8517"/>
          <a:stretch>
            <a:fillRect/>
          </a:stretch>
        </p:blipFill>
        <p:spPr>
          <a:xfrm>
            <a:off x="2912882" y="1432875"/>
            <a:ext cx="7522589" cy="4685121"/>
          </a:xfrm>
        </p:spPr>
      </p:pic>
    </p:spTree>
    <p:extLst>
      <p:ext uri="{BB962C8B-B14F-4D97-AF65-F5344CB8AC3E}">
        <p14:creationId xmlns:p14="http://schemas.microsoft.com/office/powerpoint/2010/main" val="1149227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5D6A-F7D1-6412-26B3-02B46141F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5C94F-6893-A33B-F5CF-63D0B67E2E6D}"/>
              </a:ext>
            </a:extLst>
          </p:cNvPr>
          <p:cNvSpPr>
            <a:spLocks noGrp="1"/>
          </p:cNvSpPr>
          <p:nvPr>
            <p:ph type="title"/>
          </p:nvPr>
        </p:nvSpPr>
        <p:spPr/>
        <p:txBody>
          <a:bodyPr>
            <a:normAutofit/>
          </a:bodyPr>
          <a:lstStyle/>
          <a:p>
            <a:r>
              <a:rPr lang="en-IN" dirty="0">
                <a:solidFill>
                  <a:schemeClr val="tx1"/>
                </a:solidFill>
              </a:rPr>
              <a:t>3.3</a:t>
            </a:r>
            <a:r>
              <a:rPr lang="en-IN" dirty="0"/>
              <a:t> Class Diagram</a:t>
            </a:r>
          </a:p>
        </p:txBody>
      </p:sp>
      <p:sp>
        <p:nvSpPr>
          <p:cNvPr id="4" name="Slide Number Placeholder 3">
            <a:extLst>
              <a:ext uri="{FF2B5EF4-FFF2-40B4-BE49-F238E27FC236}">
                <a16:creationId xmlns:a16="http://schemas.microsoft.com/office/drawing/2014/main" id="{C5655AB3-9666-3FFB-D6B6-F32094E9975A}"/>
              </a:ext>
            </a:extLst>
          </p:cNvPr>
          <p:cNvSpPr>
            <a:spLocks noGrp="1"/>
          </p:cNvSpPr>
          <p:nvPr>
            <p:ph type="sldNum" sz="quarter" idx="12"/>
          </p:nvPr>
        </p:nvSpPr>
        <p:spPr/>
        <p:txBody>
          <a:bodyPr/>
          <a:lstStyle/>
          <a:p>
            <a:fld id="{A575ECA5-96F4-415B-9B7B-F5BEE4B08E09}" type="slidenum">
              <a:rPr lang="en-IN" smtClean="0"/>
              <a:pPr/>
              <a:t>10</a:t>
            </a:fld>
            <a:endParaRPr lang="en-IN" dirty="0"/>
          </a:p>
        </p:txBody>
      </p:sp>
      <p:pic>
        <p:nvPicPr>
          <p:cNvPr id="8" name="Content Placeholder 7">
            <a:extLst>
              <a:ext uri="{FF2B5EF4-FFF2-40B4-BE49-F238E27FC236}">
                <a16:creationId xmlns:a16="http://schemas.microsoft.com/office/drawing/2014/main" id="{797F3D6A-8CED-FD47-CB40-5D67CF9029C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7325" b="2816"/>
          <a:stretch>
            <a:fillRect/>
          </a:stretch>
        </p:blipFill>
        <p:spPr>
          <a:xfrm>
            <a:off x="3125165" y="1423446"/>
            <a:ext cx="7300880" cy="4626951"/>
          </a:xfrm>
        </p:spPr>
      </p:pic>
    </p:spTree>
    <p:extLst>
      <p:ext uri="{BB962C8B-B14F-4D97-AF65-F5344CB8AC3E}">
        <p14:creationId xmlns:p14="http://schemas.microsoft.com/office/powerpoint/2010/main" val="1890128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850E2-726A-D8A0-14A3-FA115C9A8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2000C-B2B2-2070-C829-0ECA1055B73B}"/>
              </a:ext>
            </a:extLst>
          </p:cNvPr>
          <p:cNvSpPr>
            <a:spLocks noGrp="1"/>
          </p:cNvSpPr>
          <p:nvPr>
            <p:ph type="title"/>
          </p:nvPr>
        </p:nvSpPr>
        <p:spPr/>
        <p:txBody>
          <a:bodyPr>
            <a:normAutofit/>
          </a:bodyPr>
          <a:lstStyle/>
          <a:p>
            <a:r>
              <a:rPr lang="en-IN" dirty="0">
                <a:solidFill>
                  <a:schemeClr val="tx1"/>
                </a:solidFill>
              </a:rPr>
              <a:t>3.4</a:t>
            </a:r>
            <a:r>
              <a:rPr lang="en-IN" dirty="0"/>
              <a:t> DFD</a:t>
            </a:r>
          </a:p>
        </p:txBody>
      </p:sp>
      <p:sp>
        <p:nvSpPr>
          <p:cNvPr id="4" name="Slide Number Placeholder 3">
            <a:extLst>
              <a:ext uri="{FF2B5EF4-FFF2-40B4-BE49-F238E27FC236}">
                <a16:creationId xmlns:a16="http://schemas.microsoft.com/office/drawing/2014/main" id="{98F78091-2D23-B207-FD6C-0B5E9DC29BAA}"/>
              </a:ext>
            </a:extLst>
          </p:cNvPr>
          <p:cNvSpPr>
            <a:spLocks noGrp="1"/>
          </p:cNvSpPr>
          <p:nvPr>
            <p:ph type="sldNum" sz="quarter" idx="12"/>
          </p:nvPr>
        </p:nvSpPr>
        <p:spPr/>
        <p:txBody>
          <a:bodyPr/>
          <a:lstStyle/>
          <a:p>
            <a:fld id="{A575ECA5-96F4-415B-9B7B-F5BEE4B08E09}" type="slidenum">
              <a:rPr lang="en-IN" smtClean="0"/>
              <a:pPr/>
              <a:t>11</a:t>
            </a:fld>
            <a:endParaRPr lang="en-IN" dirty="0"/>
          </a:p>
        </p:txBody>
      </p:sp>
      <p:pic>
        <p:nvPicPr>
          <p:cNvPr id="7" name="Picture 6">
            <a:extLst>
              <a:ext uri="{FF2B5EF4-FFF2-40B4-BE49-F238E27FC236}">
                <a16:creationId xmlns:a16="http://schemas.microsoft.com/office/drawing/2014/main" id="{40F3BC19-F941-AA3A-D32B-7C8EF4D57958}"/>
              </a:ext>
            </a:extLst>
          </p:cNvPr>
          <p:cNvPicPr>
            <a:picLocks noChangeAspect="1"/>
          </p:cNvPicPr>
          <p:nvPr/>
        </p:nvPicPr>
        <p:blipFill>
          <a:blip r:embed="rId2"/>
          <a:srcRect l="-781" t="4644" r="781"/>
          <a:stretch>
            <a:fillRect/>
          </a:stretch>
        </p:blipFill>
        <p:spPr>
          <a:xfrm>
            <a:off x="3267757" y="1343180"/>
            <a:ext cx="6331318" cy="5004402"/>
          </a:xfrm>
          <a:prstGeom prst="rect">
            <a:avLst/>
          </a:prstGeom>
        </p:spPr>
      </p:pic>
    </p:spTree>
    <p:extLst>
      <p:ext uri="{BB962C8B-B14F-4D97-AF65-F5344CB8AC3E}">
        <p14:creationId xmlns:p14="http://schemas.microsoft.com/office/powerpoint/2010/main" val="874780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5" y="303595"/>
            <a:ext cx="8911687" cy="1280890"/>
          </a:xfrm>
        </p:spPr>
        <p:txBody>
          <a:bodyPr>
            <a:normAutofit fontScale="90000"/>
          </a:bodyPr>
          <a:lstStyle/>
          <a:p>
            <a:r>
              <a:rPr lang="en-IN" dirty="0"/>
              <a:t>4. User Inface Design</a:t>
            </a:r>
            <a:br>
              <a:rPr lang="en-IN" dirty="0"/>
            </a:b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12</a:t>
            </a:fld>
            <a:endParaRPr lang="en-IN" dirty="0"/>
          </a:p>
        </p:txBody>
      </p:sp>
      <p:pic>
        <p:nvPicPr>
          <p:cNvPr id="9" name="Content Placeholder 8">
            <a:extLst>
              <a:ext uri="{FF2B5EF4-FFF2-40B4-BE49-F238E27FC236}">
                <a16:creationId xmlns:a16="http://schemas.microsoft.com/office/drawing/2014/main" id="{90975E5F-A23D-F4AA-B334-3D806B8B1E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8843" y="1021237"/>
            <a:ext cx="5620440" cy="2715631"/>
          </a:xfrm>
        </p:spPr>
      </p:pic>
      <p:pic>
        <p:nvPicPr>
          <p:cNvPr id="11" name="Picture 10">
            <a:extLst>
              <a:ext uri="{FF2B5EF4-FFF2-40B4-BE49-F238E27FC236}">
                <a16:creationId xmlns:a16="http://schemas.microsoft.com/office/drawing/2014/main" id="{3CF7DDD6-FEA0-D759-3F54-0C96386435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8843" y="3876503"/>
            <a:ext cx="5620440" cy="2826777"/>
          </a:xfrm>
          <a:prstGeom prst="rect">
            <a:avLst/>
          </a:prstGeom>
        </p:spPr>
      </p:pic>
    </p:spTree>
    <p:extLst>
      <p:ext uri="{BB962C8B-B14F-4D97-AF65-F5344CB8AC3E}">
        <p14:creationId xmlns:p14="http://schemas.microsoft.com/office/powerpoint/2010/main" val="2061340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22852-63C4-7A34-B212-654773ED4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6C5C4-78A9-C6ED-6882-CC0E8210A3B4}"/>
              </a:ext>
            </a:extLst>
          </p:cNvPr>
          <p:cNvSpPr>
            <a:spLocks noGrp="1"/>
          </p:cNvSpPr>
          <p:nvPr>
            <p:ph type="title"/>
          </p:nvPr>
        </p:nvSpPr>
        <p:spPr/>
        <p:txBody>
          <a:bodyPr>
            <a:normAutofit fontScale="90000"/>
          </a:bodyPr>
          <a:lstStyle/>
          <a:p>
            <a:r>
              <a:rPr lang="en-IN" dirty="0"/>
              <a:t>4. Data Design</a:t>
            </a:r>
            <a:br>
              <a:rPr lang="en-IN" dirty="0"/>
            </a:br>
            <a:r>
              <a:rPr lang="en-IN" dirty="0"/>
              <a:t>	4.1 Schema Definition</a:t>
            </a:r>
            <a:br>
              <a:rPr lang="en-IN" dirty="0"/>
            </a:br>
            <a:endParaRPr lang="en-IN" dirty="0"/>
          </a:p>
        </p:txBody>
      </p:sp>
      <p:sp>
        <p:nvSpPr>
          <p:cNvPr id="4" name="Slide Number Placeholder 3">
            <a:extLst>
              <a:ext uri="{FF2B5EF4-FFF2-40B4-BE49-F238E27FC236}">
                <a16:creationId xmlns:a16="http://schemas.microsoft.com/office/drawing/2014/main" id="{3276B82A-42E5-0552-2F10-B51BDFAC403F}"/>
              </a:ext>
            </a:extLst>
          </p:cNvPr>
          <p:cNvSpPr>
            <a:spLocks noGrp="1"/>
          </p:cNvSpPr>
          <p:nvPr>
            <p:ph type="sldNum" sz="quarter" idx="12"/>
          </p:nvPr>
        </p:nvSpPr>
        <p:spPr/>
        <p:txBody>
          <a:bodyPr/>
          <a:lstStyle/>
          <a:p>
            <a:fld id="{A575ECA5-96F4-415B-9B7B-F5BEE4B08E09}" type="slidenum">
              <a:rPr lang="en-IN" smtClean="0"/>
              <a:pPr/>
              <a:t>13</a:t>
            </a:fld>
            <a:endParaRPr lang="en-IN" dirty="0"/>
          </a:p>
        </p:txBody>
      </p:sp>
      <p:pic>
        <p:nvPicPr>
          <p:cNvPr id="8" name="Content Placeholder 7" descr="A diagram of a product">
            <a:extLst>
              <a:ext uri="{FF2B5EF4-FFF2-40B4-BE49-F238E27FC236}">
                <a16:creationId xmlns:a16="http://schemas.microsoft.com/office/drawing/2014/main" id="{DD2CAAF6-5B47-C096-09ED-6DF9CD368A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9646" y="2010481"/>
            <a:ext cx="5254906" cy="4204555"/>
          </a:xfrm>
        </p:spPr>
      </p:pic>
    </p:spTree>
    <p:extLst>
      <p:ext uri="{BB962C8B-B14F-4D97-AF65-F5344CB8AC3E}">
        <p14:creationId xmlns:p14="http://schemas.microsoft.com/office/powerpoint/2010/main" val="1324156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C023-2964-6149-6EB0-77AE30C21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7E875-0BD5-0960-C462-C44DE8ABD2D5}"/>
              </a:ext>
            </a:extLst>
          </p:cNvPr>
          <p:cNvSpPr>
            <a:spLocks noGrp="1"/>
          </p:cNvSpPr>
          <p:nvPr>
            <p:ph type="title"/>
          </p:nvPr>
        </p:nvSpPr>
        <p:spPr/>
        <p:txBody>
          <a:bodyPr>
            <a:normAutofit fontScale="90000"/>
          </a:bodyPr>
          <a:lstStyle/>
          <a:p>
            <a:r>
              <a:rPr lang="en-IN" dirty="0"/>
              <a:t>4.2 E-R Diagram</a:t>
            </a:r>
            <a:br>
              <a:rPr lang="en-IN" dirty="0"/>
            </a:br>
            <a:endParaRPr lang="en-IN" dirty="0"/>
          </a:p>
        </p:txBody>
      </p:sp>
      <p:sp>
        <p:nvSpPr>
          <p:cNvPr id="4" name="Slide Number Placeholder 3">
            <a:extLst>
              <a:ext uri="{FF2B5EF4-FFF2-40B4-BE49-F238E27FC236}">
                <a16:creationId xmlns:a16="http://schemas.microsoft.com/office/drawing/2014/main" id="{4A2B9194-0758-86E1-5DFC-F8CCA77CD8DE}"/>
              </a:ext>
            </a:extLst>
          </p:cNvPr>
          <p:cNvSpPr>
            <a:spLocks noGrp="1"/>
          </p:cNvSpPr>
          <p:nvPr>
            <p:ph type="sldNum" sz="quarter" idx="12"/>
          </p:nvPr>
        </p:nvSpPr>
        <p:spPr/>
        <p:txBody>
          <a:bodyPr/>
          <a:lstStyle/>
          <a:p>
            <a:fld id="{A575ECA5-96F4-415B-9B7B-F5BEE4B08E09}" type="slidenum">
              <a:rPr lang="en-IN" smtClean="0"/>
              <a:pPr/>
              <a:t>14</a:t>
            </a:fld>
            <a:endParaRPr lang="en-IN" dirty="0"/>
          </a:p>
        </p:txBody>
      </p:sp>
      <p:sp>
        <p:nvSpPr>
          <p:cNvPr id="5" name="Content Placeholder 4">
            <a:extLst>
              <a:ext uri="{FF2B5EF4-FFF2-40B4-BE49-F238E27FC236}">
                <a16:creationId xmlns:a16="http://schemas.microsoft.com/office/drawing/2014/main" id="{A23CDA38-CAC8-7FF3-1F62-69B5D074563A}"/>
              </a:ext>
            </a:extLst>
          </p:cNvPr>
          <p:cNvSpPr>
            <a:spLocks noGrp="1"/>
          </p:cNvSpPr>
          <p:nvPr>
            <p:ph idx="1"/>
          </p:nvPr>
        </p:nvSpPr>
        <p:spPr>
          <a:xfrm>
            <a:off x="2589211" y="1365813"/>
            <a:ext cx="7492337" cy="4545409"/>
          </a:xfrm>
        </p:spPr>
        <p:txBody>
          <a:bodyPr/>
          <a:lstStyle/>
          <a:p>
            <a:endParaRPr lang="en-IN" dirty="0"/>
          </a:p>
        </p:txBody>
      </p:sp>
      <p:pic>
        <p:nvPicPr>
          <p:cNvPr id="7" name="Picture 6">
            <a:extLst>
              <a:ext uri="{FF2B5EF4-FFF2-40B4-BE49-F238E27FC236}">
                <a16:creationId xmlns:a16="http://schemas.microsoft.com/office/drawing/2014/main" id="{E90FA155-0264-1250-A508-A87830F8D6E6}"/>
              </a:ext>
            </a:extLst>
          </p:cNvPr>
          <p:cNvPicPr>
            <a:picLocks noChangeAspect="1"/>
          </p:cNvPicPr>
          <p:nvPr/>
        </p:nvPicPr>
        <p:blipFill>
          <a:blip r:embed="rId2"/>
          <a:stretch>
            <a:fillRect/>
          </a:stretch>
        </p:blipFill>
        <p:spPr>
          <a:xfrm>
            <a:off x="2506349" y="1284194"/>
            <a:ext cx="7658060" cy="4745620"/>
          </a:xfrm>
          <a:prstGeom prst="rect">
            <a:avLst/>
          </a:prstGeom>
        </p:spPr>
      </p:pic>
    </p:spTree>
    <p:extLst>
      <p:ext uri="{BB962C8B-B14F-4D97-AF65-F5344CB8AC3E}">
        <p14:creationId xmlns:p14="http://schemas.microsoft.com/office/powerpoint/2010/main" val="2946381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771122" y="214320"/>
            <a:ext cx="8911687" cy="1280890"/>
          </a:xfrm>
        </p:spPr>
        <p:txBody>
          <a:bodyPr/>
          <a:lstStyle/>
          <a:p>
            <a:r>
              <a:rPr lang="en-IN" dirty="0"/>
              <a:t>GitHub Link</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8915400" cy="4363278"/>
          </a:xfrm>
        </p:spPr>
        <p:txBody>
          <a:bodyPr/>
          <a:lstStyle/>
          <a:p>
            <a:pPr marL="0" indent="0">
              <a:buNone/>
            </a:pPr>
            <a:r>
              <a:rPr lang="en-IN" sz="3600" dirty="0"/>
              <a:t>https://github.com/hariiom08/Major-1.git</a:t>
            </a:r>
            <a:endParaRPr lang="en-IN" sz="3600" dirty="0">
              <a:latin typeface="Times New Roman"/>
              <a:cs typeface="Times New Roman"/>
            </a:endParaRPr>
          </a:p>
          <a:p>
            <a:pPr marL="0" indent="0">
              <a:buNone/>
            </a:pPr>
            <a:endParaRPr lang="en-IN"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15</a:t>
            </a:fld>
            <a:endParaRPr lang="en-IN" dirty="0"/>
          </a:p>
        </p:txBody>
      </p:sp>
    </p:spTree>
    <p:extLst>
      <p:ext uri="{BB962C8B-B14F-4D97-AF65-F5344CB8AC3E}">
        <p14:creationId xmlns:p14="http://schemas.microsoft.com/office/powerpoint/2010/main" val="210836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8915400" cy="4363278"/>
          </a:xfrm>
        </p:spPr>
        <p:txBody>
          <a:bodyPr>
            <a:normAutofit fontScale="85000" lnSpcReduction="20000"/>
          </a:bodyPr>
          <a:lstStyle/>
          <a:p>
            <a:pPr>
              <a:lnSpc>
                <a:spcPct val="200000"/>
              </a:lnSpc>
            </a:pPr>
            <a:r>
              <a:rPr lang="en-IN" b="1" dirty="0"/>
              <a:t>[1] Kaggle </a:t>
            </a:r>
            <a:r>
              <a:rPr lang="en-IN" dirty="0"/>
              <a:t>– Brazilian E-commerce Public Dataset by </a:t>
            </a:r>
            <a:r>
              <a:rPr lang="en-IN" dirty="0" err="1"/>
              <a:t>Olist</a:t>
            </a:r>
            <a:r>
              <a:rPr lang="en-IN" dirty="0"/>
              <a:t> (used for real-world sales, customers, and delivery data).</a:t>
            </a:r>
          </a:p>
          <a:p>
            <a:pPr>
              <a:lnSpc>
                <a:spcPct val="200000"/>
              </a:lnSpc>
            </a:pPr>
            <a:r>
              <a:rPr lang="en-IN" dirty="0"/>
              <a:t> </a:t>
            </a:r>
            <a:r>
              <a:rPr lang="en-IN" b="1" dirty="0"/>
              <a:t>[2] Aurélien </a:t>
            </a:r>
            <a:r>
              <a:rPr lang="en-IN" b="1" dirty="0" err="1"/>
              <a:t>Géron</a:t>
            </a:r>
            <a:r>
              <a:rPr lang="en-IN" b="1" dirty="0"/>
              <a:t> </a:t>
            </a:r>
            <a:r>
              <a:rPr lang="en-IN" dirty="0"/>
              <a:t>– Hands-On Machine Learning with Scikit-Learn, </a:t>
            </a:r>
            <a:r>
              <a:rPr lang="en-IN" dirty="0" err="1"/>
              <a:t>Keras</a:t>
            </a:r>
            <a:r>
              <a:rPr lang="en-IN" dirty="0"/>
              <a:t> &amp; TensorFlow (for ML concepts and implementation)</a:t>
            </a:r>
          </a:p>
          <a:p>
            <a:pPr>
              <a:lnSpc>
                <a:spcPct val="200000"/>
              </a:lnSpc>
            </a:pPr>
            <a:r>
              <a:rPr lang="en-IN" b="1" dirty="0"/>
              <a:t> [3] Choudhary, S., &amp; Shukla, S. (2020). </a:t>
            </a:r>
            <a:r>
              <a:rPr lang="en-IN" dirty="0"/>
              <a:t>“Sales Forecasting for E-commerce Using Machine Learning Techniques” — International Journal of Scientific Research in Computer Science and Engineering (IJSRCSE).</a:t>
            </a:r>
          </a:p>
          <a:p>
            <a:pPr marL="0" indent="0">
              <a:buNone/>
            </a:pPr>
            <a:endParaRPr lang="en-IN"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16</a:t>
            </a:fld>
            <a:endParaRPr lang="en-IN" dirty="0"/>
          </a:p>
        </p:txBody>
      </p:sp>
    </p:spTree>
    <p:extLst>
      <p:ext uri="{BB962C8B-B14F-4D97-AF65-F5344CB8AC3E}">
        <p14:creationId xmlns:p14="http://schemas.microsoft.com/office/powerpoint/2010/main" val="334970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38373-4862-EAD6-FD09-81C23CF8B242}"/>
              </a:ext>
            </a:extLst>
          </p:cNvPr>
          <p:cNvSpPr>
            <a:spLocks noGrp="1"/>
          </p:cNvSpPr>
          <p:nvPr>
            <p:ph idx="1"/>
          </p:nvPr>
        </p:nvSpPr>
        <p:spPr>
          <a:xfrm>
            <a:off x="2004751" y="1049518"/>
            <a:ext cx="7290078" cy="4644272"/>
          </a:xfrm>
        </p:spPr>
        <p:txBody>
          <a:bodyPr/>
          <a:lstStyle/>
          <a:p>
            <a:pPr marL="0" indent="0">
              <a:buNone/>
            </a:pPr>
            <a:r>
              <a:rPr lang="en-US" dirty="0"/>
              <a:t>[</a:t>
            </a:r>
            <a:r>
              <a:rPr lang="en-US" b="1" dirty="0"/>
              <a:t>4] Tsai, C. F., &amp; Hung, C. S. (2019). </a:t>
            </a:r>
            <a:r>
              <a:rPr lang="en-US" dirty="0"/>
              <a:t>“Customer Purchase Behavior Prediction in E-commerce using Data Mining Techniques”</a:t>
            </a:r>
            <a:endParaRPr lang="en-IN" dirty="0"/>
          </a:p>
        </p:txBody>
      </p:sp>
      <p:sp>
        <p:nvSpPr>
          <p:cNvPr id="4" name="Slide Number Placeholder 3">
            <a:extLst>
              <a:ext uri="{FF2B5EF4-FFF2-40B4-BE49-F238E27FC236}">
                <a16:creationId xmlns:a16="http://schemas.microsoft.com/office/drawing/2014/main" id="{99513926-A059-C3CA-63A2-22081F570F5A}"/>
              </a:ext>
            </a:extLst>
          </p:cNvPr>
          <p:cNvSpPr>
            <a:spLocks noGrp="1"/>
          </p:cNvSpPr>
          <p:nvPr>
            <p:ph type="sldNum" sz="quarter" idx="12"/>
          </p:nvPr>
        </p:nvSpPr>
        <p:spPr/>
        <p:txBody>
          <a:bodyPr/>
          <a:lstStyle/>
          <a:p>
            <a:fld id="{A575ECA5-96F4-415B-9B7B-F5BEE4B08E09}" type="slidenum">
              <a:rPr lang="en-IN" smtClean="0"/>
              <a:pPr/>
              <a:t>17</a:t>
            </a:fld>
            <a:endParaRPr lang="en-IN" dirty="0"/>
          </a:p>
        </p:txBody>
      </p:sp>
    </p:spTree>
    <p:extLst>
      <p:ext uri="{BB962C8B-B14F-4D97-AF65-F5344CB8AC3E}">
        <p14:creationId xmlns:p14="http://schemas.microsoft.com/office/powerpoint/2010/main" val="3781528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5038-74F4-BFA9-7BB7-A3BBAFBCF2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48E571-788C-E54B-B080-EEB4F50A852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E81C9646-E93C-1967-B61B-316EFA0573BF}"/>
              </a:ext>
            </a:extLst>
          </p:cNvPr>
          <p:cNvSpPr>
            <a:spLocks noGrp="1"/>
          </p:cNvSpPr>
          <p:nvPr>
            <p:ph type="sldNum" sz="quarter" idx="12"/>
          </p:nvPr>
        </p:nvSpPr>
        <p:spPr/>
        <p:txBody>
          <a:bodyPr/>
          <a:lstStyle/>
          <a:p>
            <a:fld id="{A575ECA5-96F4-415B-9B7B-F5BEE4B08E09}" type="slidenum">
              <a:rPr lang="en-IN" smtClean="0"/>
              <a:pPr/>
              <a:t>18</a:t>
            </a:fld>
            <a:endParaRPr lang="en-IN" dirty="0"/>
          </a:p>
        </p:txBody>
      </p:sp>
      <p:sp>
        <p:nvSpPr>
          <p:cNvPr id="5" name="Rectangle 4">
            <a:extLst>
              <a:ext uri="{FF2B5EF4-FFF2-40B4-BE49-F238E27FC236}">
                <a16:creationId xmlns:a16="http://schemas.microsoft.com/office/drawing/2014/main" id="{09DA9428-B45B-20BA-B9BF-9EC990C7F486}"/>
              </a:ext>
            </a:extLst>
          </p:cNvPr>
          <p:cNvSpPr/>
          <p:nvPr/>
        </p:nvSpPr>
        <p:spPr>
          <a:xfrm>
            <a:off x="5057618" y="2967335"/>
            <a:ext cx="3647152"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6" name="Rectangle 5">
            <a:extLst>
              <a:ext uri="{FF2B5EF4-FFF2-40B4-BE49-F238E27FC236}">
                <a16:creationId xmlns:a16="http://schemas.microsoft.com/office/drawing/2014/main" id="{EB405D59-04E2-F173-8396-FFBCDFE0262A}"/>
              </a:ext>
            </a:extLst>
          </p:cNvPr>
          <p:cNvSpPr/>
          <p:nvPr/>
        </p:nvSpPr>
        <p:spPr>
          <a:xfrm>
            <a:off x="5310893" y="4262735"/>
            <a:ext cx="2820003"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Queries ?</a:t>
            </a:r>
          </a:p>
        </p:txBody>
      </p:sp>
    </p:spTree>
    <p:extLst>
      <p:ext uri="{BB962C8B-B14F-4D97-AF65-F5344CB8AC3E}">
        <p14:creationId xmlns:p14="http://schemas.microsoft.com/office/powerpoint/2010/main" val="31713410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4870</TotalTime>
  <Words>842</Words>
  <Application>Microsoft Office PowerPoint</Application>
  <PresentationFormat>Widescreen</PresentationFormat>
  <Paragraphs>89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Times New Roman</vt:lpstr>
      <vt:lpstr>Wingdings</vt:lpstr>
      <vt:lpstr>Wingdings 3</vt:lpstr>
      <vt:lpstr>Wisp</vt:lpstr>
      <vt:lpstr>          Presentation on  E-Commerce Sales Prediction </vt:lpstr>
      <vt:lpstr>Contents</vt:lpstr>
      <vt:lpstr>1. Introduction</vt:lpstr>
      <vt:lpstr>2. Requirement Engineering  2.1 Requirement Collection</vt:lpstr>
      <vt:lpstr>2.2 Function Requirements</vt:lpstr>
      <vt:lpstr>2.2 Non Functional Requirements </vt:lpstr>
      <vt:lpstr>2.3 Use Case Diagram</vt:lpstr>
      <vt:lpstr>3. Technical Design  3.1 Technical Architecture</vt:lpstr>
      <vt:lpstr>3.2 Sequence Diagram</vt:lpstr>
      <vt:lpstr>3.3 Class Diagram</vt:lpstr>
      <vt:lpstr>3.4 DFD</vt:lpstr>
      <vt:lpstr>4. User Inface Design </vt:lpstr>
      <vt:lpstr>4. Data Design  4.1 Schema Definition </vt:lpstr>
      <vt:lpstr>4.2 E-R Diagram </vt:lpstr>
      <vt:lpstr>GitHub Link</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Singh Chouhan</dc:creator>
  <cp:lastModifiedBy>Hariom Mandloi</cp:lastModifiedBy>
  <cp:revision>20</cp:revision>
  <dcterms:created xsi:type="dcterms:W3CDTF">2024-09-26T07:25:32Z</dcterms:created>
  <dcterms:modified xsi:type="dcterms:W3CDTF">2025-11-14T11:11:09Z</dcterms:modified>
</cp:coreProperties>
</file>